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4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Rietveld 1969. Emphasize: we fit the WHOLE pattern with a physical model. http://www.ccp14.ac.uk/poster-talks/rietveld-csiro-axaa-99/rietveld/index.htm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GSAS-II tutorials: https://advancedphotonsource.github.io/GSAS-II-tutorials/index.html  PowDLL: http://users.uoi.gr/nkourkou/powdll/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= incident intensity, geometry, absorption, phase volume fraction, multiplicity, Lorentz-polarization, unit-cell volume, and |F(hkl)|^2. Point at each factor: this is why intensities carry structural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https://www.xtl.ox.ac.uk/resources/software/fprime.html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everything that follows: every checkbox in GSAS-II lands in one bucket. Positions, shapes, or intensities. When a fit is bad, diagnose by bucket before touching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shift is constant; displacement dies off as cos(theta). Nearly identical below ~40 deg, so refining both from limited data is asking for trouble. Internal Si standard breaks the tie. McCusker: if positions are off, nothing else can converge.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U, V, W set the Gaussian width; X and Y the Lorentzian. Key point: X goes as tan(theta) like strain, Y as 1/cos(theta) like Scherrer size. Characterize the instrument with a standard first; sample broadening is what is left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Debye ring is curved, the slit is straight. At low angle the curvature within the slit smears counts to low 2-theta, so peaks lean left. Use the FCJ correction; if you fake it with extra width, sizes and strains come out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fix vs software fix. Soller slits shrink H in the H^2/2r shift, trading intensity for shape. Good instruments do both: collimate what you can, model what remains with FCJ.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Intensity error: single lobe. Position error: sideways S. Width error: M or W. Missing asymmetry: wiggle in the tails. Real refinements superpose these. Have audience call out the fingerprint for each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panels have the identical peak misfit; only the background changed, and Rwp fell from 18 to 4 percent. Moral: Rwp is not comparable across experiments. The Le Bail fit is your floor. Judge with the plot and chemistry (Toby 2006).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cycles in small batches, watch shift/esd, and be willing to back out. A flat Rwp can be a shelf, not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recipe is correlation management: free the parameters that move the residual most and fight least, first. Heat map shows the usual suspects: scale vs Uiso vs occupancy, zero vs displacement, U vs V vs W. End with the 3-to-5 observations-per-parameter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CPD Rietveld QPA round robin, Amoco results. https://journals.iucr.org/j/issues/2001/04/00/hw0085/hw0085.pdf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 et al., Structural derivation and crystal chemistry of apatites, Acta Cryst. B59, 1-16 (2003)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ia_export/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2044"/>
            <a:ext cx="6153912" cy="6153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48840"/>
            <a:ext cx="6035040" cy="182880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457200" y="2148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Rietveld Refinement of Powder Diffraction Data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Workshop: Tools for Visualizing and Understanding the Structure of Crystalline Ceramics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Sparks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Materials Science &amp; Engineering, University of Utah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software and tutorial materials now, the files are large</a:t>
            </a:r>
            <a:endParaRPr lang="en-US" sz="2400" dirty="0"/>
          </a:p>
        </p:txBody>
      </p:sp>
      <p:pic>
        <p:nvPicPr>
          <p:cNvPr id="4" name="Image 0" descr="media_export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68" y="1371600"/>
            <a:ext cx="3764023" cy="3840480"/>
          </a:xfrm>
          <a:prstGeom prst="rect">
            <a:avLst/>
          </a:prstGeom>
        </p:spPr>
      </p:pic>
      <p:pic>
        <p:nvPicPr>
          <p:cNvPr id="5" name="Image 1" descr="media_export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590" y="1371600"/>
            <a:ext cx="3805300" cy="3840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5394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GSAS-II software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 download, 2 GB installed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675120" y="5394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tutorial materials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MB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technique answers many quantitative questions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Rietveld refinement and how does it work?</a:t>
            </a:r>
            <a:endParaRPr lang="en-US" sz="19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analysis of multiphase mixtures</a:t>
            </a:r>
            <a:endParaRPr lang="en-US" sz="19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content</a:t>
            </a:r>
            <a:endParaRPr lang="en-US" sz="19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positions and site occupancy</a:t>
            </a:r>
            <a:endParaRPr lang="en-US" sz="19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displacement parameters</a:t>
            </a:r>
            <a:endParaRPr lang="en-US" sz="19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orientation</a:t>
            </a:r>
            <a:endParaRPr lang="en-US" sz="19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Crystallite size and strain</a:t>
            </a:r>
            <a:endParaRPr lang="en-US" sz="1900" dirty="0"/>
          </a:p>
        </p:txBody>
      </p:sp>
      <p:pic>
        <p:nvPicPr>
          <p:cNvPr id="5" name="Image 0" descr="figs/fig_e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15780"/>
            <a:ext cx="4480560" cy="3066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Rietveld refinement least-squares fits a calculated pattern to your data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Rietveld (1969)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pattern vs measured pattern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model parameters, adjusted by least squares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measurement errors (shift, zero offset)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Le Bail or Pawley (profile) fitting: those fit intensities without a structure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initio structure determination is a separate, harder problem</a:t>
            </a:r>
            <a:endParaRPr lang="en-US" sz="1700" dirty="0"/>
          </a:p>
        </p:txBody>
      </p:sp>
      <p:pic>
        <p:nvPicPr>
          <p:cNvPr id="5" name="Image 0" descr="media_export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548" y="1280160"/>
            <a:ext cx="341106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GSAS-II and PowDLL cover the whole workflow for free</a:t>
            </a:r>
            <a:endParaRPr lang="en-US" sz="2400" dirty="0"/>
          </a:p>
        </p:txBody>
      </p:sp>
      <p:pic>
        <p:nvPicPr>
          <p:cNvPr id="4" name="Image 0" descr="media_export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9750"/>
            <a:ext cx="5486400" cy="4398579"/>
          </a:xfrm>
          <a:prstGeom prst="rect">
            <a:avLst/>
          </a:prstGeom>
        </p:spPr>
      </p:pic>
      <p:pic>
        <p:nvPicPr>
          <p:cNvPr id="5" name="Image 1" descr="media_export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47738"/>
            <a:ext cx="5486400" cy="4802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software simulates powder patterns remarkably well</a:t>
            </a:r>
            <a:endParaRPr lang="en-US" sz="2400" dirty="0"/>
          </a:p>
        </p:txBody>
      </p:sp>
      <p:pic>
        <p:nvPicPr>
          <p:cNvPr id="4" name="Image 0" descr="media_export/image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743" y="1097280"/>
            <a:ext cx="828003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intensity folds in source, sample, and structure factors</a:t>
            </a:r>
            <a:endParaRPr lang="en-US" sz="2400" dirty="0"/>
          </a:p>
        </p:txBody>
      </p:sp>
      <p:pic>
        <p:nvPicPr>
          <p:cNvPr id="4" name="Image 0" descr="media_export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" y="2878068"/>
            <a:ext cx="5577840" cy="1072140"/>
          </a:xfrm>
          <a:prstGeom prst="rect">
            <a:avLst/>
          </a:prstGeom>
        </p:spPr>
      </p:pic>
      <p:pic>
        <p:nvPicPr>
          <p:cNvPr id="5" name="Image 1" descr="media_export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27614"/>
            <a:ext cx="5577840" cy="1168932"/>
          </a:xfrm>
          <a:prstGeom prst="rect">
            <a:avLst/>
          </a:prstGeom>
        </p:spPr>
      </p:pic>
      <p:pic>
        <p:nvPicPr>
          <p:cNvPr id="6" name="Image 2" descr="media_export/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" y="1161808"/>
            <a:ext cx="7852410" cy="1160715"/>
          </a:xfrm>
          <a:prstGeom prst="rect">
            <a:avLst/>
          </a:prstGeom>
        </p:spPr>
      </p:pic>
      <p:pic>
        <p:nvPicPr>
          <p:cNvPr id="7" name="Image 3" descr="media_export/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353" y="2322523"/>
            <a:ext cx="4192291" cy="42951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R. Connolly, EPS400-001, Introduction to X-Ray Powder Diffraction, 2010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choice sets the anomalous scattering factors f' and f''</a:t>
            </a:r>
            <a:endParaRPr lang="en-US" sz="2400" dirty="0"/>
          </a:p>
        </p:txBody>
      </p:sp>
      <p:pic>
        <p:nvPicPr>
          <p:cNvPr id="4" name="Image 0" descr="media_export/image13.png"/>
          <p:cNvPicPr>
            <a:picLocks noChangeAspect="1"/>
          </p:cNvPicPr>
          <p:nvPr/>
        </p:nvPicPr>
        <p:blipFill>
          <a:blip r:embed="rId3"/>
          <a:srcRect l="14640" t="23333" r="38229" b="21840"/>
          <a:stretch>
            <a:fillRect/>
          </a:stretch>
        </p:blipFill>
        <p:spPr>
          <a:xfrm>
            <a:off x="260350" y="1517649"/>
            <a:ext cx="5835650" cy="4242830"/>
          </a:xfrm>
          <a:prstGeom prst="rect">
            <a:avLst/>
          </a:prstGeom>
        </p:spPr>
      </p:pic>
      <p:pic>
        <p:nvPicPr>
          <p:cNvPr id="5" name="Image 1" descr="media_export/image14.png"/>
          <p:cNvPicPr>
            <a:picLocks noChangeAspect="1"/>
          </p:cNvPicPr>
          <p:nvPr/>
        </p:nvPicPr>
        <p:blipFill>
          <a:blip r:embed="rId4"/>
          <a:srcRect l="25205" t="24062" r="28689" b="22022"/>
          <a:stretch>
            <a:fillRect/>
          </a:stretch>
        </p:blipFill>
        <p:spPr>
          <a:xfrm>
            <a:off x="6375400" y="1549399"/>
            <a:ext cx="5759450" cy="4209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dictates Gaussian vs Lorentzian peak character</a:t>
            </a:r>
            <a:endParaRPr lang="en-US" sz="2400" dirty="0"/>
          </a:p>
        </p:txBody>
      </p:sp>
      <p:pic>
        <p:nvPicPr>
          <p:cNvPr id="4" name="Image 0" descr="media_export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1746"/>
            <a:ext cx="5577840" cy="3211708"/>
          </a:xfrm>
          <a:prstGeom prst="rect">
            <a:avLst/>
          </a:prstGeom>
        </p:spPr>
      </p:pic>
      <p:pic>
        <p:nvPicPr>
          <p:cNvPr id="5" name="Image 1" descr="media_export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177182"/>
            <a:ext cx="5577840" cy="9608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prism.mit.edu/xray/Rietveld_XRDSimulation.pdf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changes the pattern in one of three 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254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peaks sit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parameters (a, b, c, angles)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offset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displacement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34840" y="12344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25400">
            <a:solidFill>
              <a:srgbClr val="1E6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17720" y="14173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6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they have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widths: U, V, W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Lorentzian widths: X, Y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(axial divergence)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strain broadening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0" y="12344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25400">
            <a:solidFill>
              <a:srgbClr val="A05F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412480" y="14173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 they are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factor(s)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positions (x, y, z)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occupancies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parameters (Uiso, Uij)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orientation</a:t>
            </a:r>
            <a:endParaRPr lang="en-US" sz="18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Absorption, roughness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strategy: when the fit is bad, ask which bucket is wrong. Each bucket leaves a different fingerprint in the difference curve.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positions must match before anything else can refine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76152"/>
            <a:ext cx="4846320" cy="40503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rival corrections: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offset:  Δ2θ = const.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Displacement:  Δ2θ = −2s cosθ/R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at low angle, so the two are highly correlated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internal standard (NIST Si 640) pins one of them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positions are off, nothing downstream can converge (McCusker et al., 1999)</a:t>
            </a:r>
            <a:endParaRPr lang="en-US" sz="1700" dirty="0"/>
          </a:p>
        </p:txBody>
      </p:sp>
      <p:pic>
        <p:nvPicPr>
          <p:cNvPr id="5" name="Image 0" descr="figs/fig_po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23876"/>
            <a:ext cx="5943600" cy="40503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widths encode real microstructure through U, V, W, X, 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36750"/>
            <a:ext cx="4846320" cy="41897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part (Caglioti, 1958):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FWHM² = U tan²θ + V tanθ + W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Lorentzian part: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FWHM = X tanθ + Y / cosθ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6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grows like strain broadening (tanθ)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grows like size broadening (1/cosθ, Scherrer)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terms are physics, not fudge factors</a:t>
            </a:r>
            <a:endParaRPr lang="en-US" sz="1700" dirty="0"/>
          </a:p>
        </p:txBody>
      </p:sp>
      <p:pic>
        <p:nvPicPr>
          <p:cNvPr id="5" name="Image 0" descr="figs/fig_wid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28216"/>
            <a:ext cx="59436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divergence makes low-angle peaks lean; correct it, don't absorb it</a:t>
            </a:r>
            <a:endParaRPr lang="en-US" sz="2400" dirty="0"/>
          </a:p>
        </p:txBody>
      </p:sp>
      <p:pic>
        <p:nvPicPr>
          <p:cNvPr id="4" name="Image 0" descr="figs/fig_asym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38" y="1005840"/>
            <a:ext cx="9591245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507492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makes cones; on the detector they are rings, and low-angle rings are small and strongly curved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slit is straight and tall: scanning outward, its tips clip the ring before its center gets there, so counts arrive early and pile up on the low-angle side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shift scales as H²/2r, which is why the lean is worst at low 2θ (and on high-resolution instruments)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 with the Finger-Cox-Jephcoat correction (built into GSAS-II); never absorb it into peak width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Soller slits tame axial divergence, at the cost of intensity</a:t>
            </a:r>
            <a:endParaRPr lang="en-US" sz="2400" dirty="0"/>
          </a:p>
        </p:txBody>
      </p:sp>
      <p:pic>
        <p:nvPicPr>
          <p:cNvPr id="4" name="Image 0" descr="figs/fig_s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16" y="1051560"/>
            <a:ext cx="10496489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525780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thin parallel foils limits out-of-plane divergence to roughly (foil spacing) / (foil length)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axial divergence = shorter low-angle tail and more accurate peak positions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is counts: every blocked ray is simply lost, so counting times grow</a:t>
            </a:r>
            <a:endParaRPr lang="en-US" sz="14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asymmetry always survives, so the Finger-Cox-Jephcoat correction still applies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curve tells you which parameter is wrong</a:t>
            </a:r>
            <a:endParaRPr lang="en-US" sz="2400" dirty="0"/>
          </a:p>
        </p:txBody>
      </p:sp>
      <p:pic>
        <p:nvPicPr>
          <p:cNvPr id="4" name="Image 0" descr="figs/fig_e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214" y="1005840"/>
            <a:ext cx="7749092" cy="5303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misfits are superpositions of these four fingerprints (after McCusker et al., J. Appl. Cryst. 32, 36, 1999)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Rp, Rwp, and chi-squared put numbers on the fit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54250"/>
            <a:ext cx="5120640" cy="3323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Rp: plain difference between observed and calculated intensities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Rwp: weighted, so strong peaks matter more than weak ones; this is what least squares minimizes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guideline: Rwp &lt; 10% or χ² &lt; 4 for a good fit</a:t>
            </a:r>
            <a:endParaRPr lang="en-US" sz="1700" dirty="0"/>
          </a:p>
        </p:txBody>
      </p:sp>
      <p:pic>
        <p:nvPicPr>
          <p:cNvPr id="5" name="Image 0" descr="media_export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94237"/>
            <a:ext cx="5669280" cy="1132166"/>
          </a:xfrm>
          <a:prstGeom prst="rect">
            <a:avLst/>
          </a:prstGeom>
        </p:spPr>
      </p:pic>
      <p:pic>
        <p:nvPicPr>
          <p:cNvPr id="6" name="Image 1" descr="media_export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150" y="3784554"/>
            <a:ext cx="4478020" cy="187681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prism.mit.edu/xray/RietveldGOF.pdf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Rwp can hide a bad fit, and vice versa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sits in the denominator: high background flatters Rwp for the very same peak misfit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compare Rwp across instruments: TOF neutron at 3% and lab XRD at 10% can be equally good fits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floor is the Le Bail Rwp; judge fits with the plot and chemical sense, not the number (Toby, 2006)</a:t>
            </a:r>
            <a:endParaRPr lang="en-US" sz="1600" dirty="0"/>
          </a:p>
        </p:txBody>
      </p:sp>
      <p:pic>
        <p:nvPicPr>
          <p:cNvPr id="5" name="Image 0" descr="figs/fig_rw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281" y="3017520"/>
            <a:ext cx="865895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 a minimum is not proof you found THE minimum</a:t>
            </a:r>
            <a:endParaRPr lang="en-US" sz="2400" dirty="0"/>
          </a:p>
        </p:txBody>
      </p:sp>
      <p:pic>
        <p:nvPicPr>
          <p:cNvPr id="4" name="Image 0" descr="figs/fig_min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671" y="1188720"/>
            <a:ext cx="8568178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897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Rietveld refinement is never finished, only abandoned."   P. W. Stephens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turn-on order is correlation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4937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Scale + background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Lattice + zero (or displacement)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Profile: W first, then U, V, X, Y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Positions: heavy atoms, then light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Uiso (constrain similar atoms early)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Occupancies last, then all together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observations per parameter ≥ 3, ideally 5</a:t>
            </a:r>
            <a:endParaRPr lang="en-US" sz="1800" dirty="0"/>
          </a:p>
        </p:txBody>
      </p:sp>
      <p:pic>
        <p:nvPicPr>
          <p:cNvPr id="5" name="Image 0" descr="figs/fig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91279"/>
            <a:ext cx="5669280" cy="48069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Multiphase analysis starts by matching the peak list to phases</a:t>
            </a:r>
            <a:endParaRPr lang="en-US" sz="2400" dirty="0"/>
          </a:p>
        </p:txBody>
      </p:sp>
      <p:pic>
        <p:nvPicPr>
          <p:cNvPr id="4" name="Image 0" descr="media_export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214459"/>
            <a:ext cx="8686800" cy="52520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three-phase Rietveld fit resolves the mixture directly</a:t>
            </a:r>
            <a:endParaRPr lang="en-US" sz="2400" dirty="0"/>
          </a:p>
        </p:txBody>
      </p:sp>
      <p:pic>
        <p:nvPicPr>
          <p:cNvPr id="4" name="Image 0" descr="media_export/image2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0" y="1097280"/>
            <a:ext cx="6172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SMZ relation converts scale factors into weight fractions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phase scale factor, proportional to the number of unit cells measured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is the molecular weight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the number of formula units per unit cell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SMZ is proportional to the concentration of each phase</a:t>
            </a:r>
            <a:endParaRPr lang="en-US" sz="1800" dirty="0"/>
          </a:p>
        </p:txBody>
      </p:sp>
      <p:pic>
        <p:nvPicPr>
          <p:cNvPr id="5" name="Image 0" descr="figs/fig_sm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650" y="1824355"/>
            <a:ext cx="3355340" cy="18128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studies show quantitative analysis is accurate to a few percent</a:t>
            </a:r>
            <a:endParaRPr lang="en-US" sz="2400" dirty="0"/>
          </a:p>
        </p:txBody>
      </p:sp>
      <p:pic>
        <p:nvPicPr>
          <p:cNvPr id="4" name="Image 0" descr="media_export/image22.png"/>
          <p:cNvPicPr>
            <a:picLocks noChangeAspect="1"/>
          </p:cNvPicPr>
          <p:nvPr/>
        </p:nvPicPr>
        <p:blipFill>
          <a:blip r:embed="rId3"/>
          <a:srcRect t="18032" b="17820"/>
          <a:stretch>
            <a:fillRect/>
          </a:stretch>
        </p:blipFill>
        <p:spPr>
          <a:xfrm>
            <a:off x="2679086" y="825500"/>
            <a:ext cx="6420464" cy="58251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Rietveld quantifies 6% tellurium recovered from a seawater medium</a:t>
            </a:r>
            <a:endParaRPr lang="en-US" sz="2400" dirty="0"/>
          </a:p>
        </p:txBody>
      </p:sp>
      <p:pic>
        <p:nvPicPr>
          <p:cNvPr id="4" name="Image 0" descr="media_export/image2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" y="1143000"/>
            <a:ext cx="6019324" cy="5029200"/>
          </a:xfrm>
          <a:prstGeom prst="rect">
            <a:avLst/>
          </a:prstGeom>
        </p:spPr>
      </p:pic>
      <p:pic>
        <p:nvPicPr>
          <p:cNvPr id="5" name="Image 1" descr="media_export/image2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370259"/>
            <a:ext cx="4297680" cy="104356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3716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 NaCl</a:t>
            </a:r>
            <a:endParaRPr lang="en-US" sz="19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Te</a:t>
            </a:r>
            <a:endParaRPr lang="en-US" sz="19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 = 6.9%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sources: absorption (transparency), sample volume (more powder)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 Y3Sc4AlO12 actually crystallized as three phases</a:t>
            </a:r>
            <a:endParaRPr lang="en-US" sz="2400" dirty="0"/>
          </a:p>
        </p:txBody>
      </p:sp>
      <p:pic>
        <p:nvPicPr>
          <p:cNvPr id="4" name="Image 0" descr="media_export/image2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7049"/>
            <a:ext cx="6766560" cy="3981102"/>
          </a:xfrm>
          <a:prstGeom prst="rect">
            <a:avLst/>
          </a:prstGeom>
        </p:spPr>
      </p:pic>
      <p:pic>
        <p:nvPicPr>
          <p:cNvPr id="5" name="Image 1" descr="media_export/image2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24074"/>
            <a:ext cx="4297680" cy="8845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3716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YAG (Ia-3d)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 YScO3 (Ia-3)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 YScO3 (Pnma)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 = 5.3%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Y3Sc5O12 instead formed nearly phase-pure bixbyite</a:t>
            </a:r>
            <a:endParaRPr lang="en-US" sz="2400" dirty="0"/>
          </a:p>
        </p:txBody>
      </p:sp>
      <p:pic>
        <p:nvPicPr>
          <p:cNvPr id="4" name="Image 0" descr="media_export/image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6988"/>
            <a:ext cx="6766560" cy="4301224"/>
          </a:xfrm>
          <a:prstGeom prst="rect">
            <a:avLst/>
          </a:prstGeom>
        </p:spPr>
      </p:pic>
      <p:pic>
        <p:nvPicPr>
          <p:cNvPr id="5" name="Image 1" descr="media_export/image2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829042"/>
            <a:ext cx="4297680" cy="6746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3716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Y3/4Sc5/4O3 (Ia-3)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 Y (P63/mmc)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 = 4.7%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Debye equation extends analysis to amorphous content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17750"/>
            <a:ext cx="5669280" cy="316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amorphous material can be determined if a standard is added in a known amount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describe interatomic distance and vibration amplitude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radial distribution function is needed to determine bond distances for analysis</a:t>
            </a:r>
            <a:endParaRPr lang="en-US" sz="1800" dirty="0"/>
          </a:p>
        </p:txBody>
      </p:sp>
      <p:pic>
        <p:nvPicPr>
          <p:cNvPr id="5" name="Image 0" descr="figs/fig_deb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79778"/>
            <a:ext cx="5303520" cy="25385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Glassy silica's diffuse scattering can be fit, not just subtracted</a:t>
            </a:r>
            <a:endParaRPr lang="en-US" sz="2400" dirty="0"/>
          </a:p>
        </p:txBody>
      </p:sp>
      <p:pic>
        <p:nvPicPr>
          <p:cNvPr id="4" name="Image 0" descr="media_export/image3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14" y="1097280"/>
            <a:ext cx="6846693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refined model yields a real-space radial distribution function</a:t>
            </a:r>
            <a:endParaRPr lang="en-US" sz="2400" dirty="0"/>
          </a:p>
        </p:txBody>
      </p:sp>
      <p:pic>
        <p:nvPicPr>
          <p:cNvPr id="4" name="Image 0" descr="media_export/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097280"/>
            <a:ext cx="6949440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the Debye model steadily improves the diffuse fit</a:t>
            </a:r>
            <a:endParaRPr lang="en-US" sz="2400" dirty="0"/>
          </a:p>
        </p:txBody>
      </p:sp>
      <p:pic>
        <p:nvPicPr>
          <p:cNvPr id="4" name="Image 0" descr="media_export/image3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14" y="1097280"/>
            <a:ext cx="6846693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peaks index directly to coordination shells</a:t>
            </a:r>
            <a:endParaRPr lang="en-US" sz="2400" dirty="0"/>
          </a:p>
        </p:txBody>
      </p:sp>
      <p:pic>
        <p:nvPicPr>
          <p:cNvPr id="4" name="Image 0" descr="media_export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097280"/>
            <a:ext cx="6949440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diffuse fit converges with chi-squared = 1.11</a:t>
            </a:r>
            <a:endParaRPr lang="en-US" sz="2400" dirty="0"/>
          </a:p>
        </p:txBody>
      </p:sp>
      <p:pic>
        <p:nvPicPr>
          <p:cNvPr id="4" name="Image 0" descr="media_export/image3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14" y="1097280"/>
            <a:ext cx="6846693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Kaduk, ICDD, Rietveld Refinement Workshop, Oct 2010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XRD alone cannot settle apatite site occupancies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68550"/>
            <a:ext cx="4206240" cy="3757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Gd8+xCa2+y(SiO4)6O2+3x/2+y system with anion/cation vacancies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XRD is insufficient to answer: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Impurity wt%?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change?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 site preference?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Meta-prism twist?</a:t>
            </a:r>
            <a:endParaRPr lang="en-US" sz="1600" dirty="0"/>
          </a:p>
        </p:txBody>
      </p:sp>
      <p:pic>
        <p:nvPicPr>
          <p:cNvPr id="5" name="Image 0" descr="media_export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78400"/>
            <a:ext cx="3657600" cy="3541281"/>
          </a:xfrm>
          <a:prstGeom prst="rect">
            <a:avLst/>
          </a:prstGeom>
        </p:spPr>
      </p:pic>
      <p:pic>
        <p:nvPicPr>
          <p:cNvPr id="6" name="Image 1" descr="media_export/image3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428595"/>
            <a:ext cx="3200400" cy="26408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Synchrotron data adds the resolution occupancy refinement needs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19350"/>
            <a:ext cx="4206240" cy="3707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Stoichiometric composition should have the highest thermal conductivity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separation?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Synchrotron diffraction brings: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signal-to-noise ratio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resolution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anomalous scattering</a:t>
            </a:r>
            <a:endParaRPr lang="en-US" sz="1600" dirty="0"/>
          </a:p>
        </p:txBody>
      </p:sp>
      <p:pic>
        <p:nvPicPr>
          <p:cNvPr id="5" name="Image 0" descr="media_export/image3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00068"/>
            <a:ext cx="3657600" cy="2897945"/>
          </a:xfrm>
          <a:prstGeom prst="rect">
            <a:avLst/>
          </a:prstGeom>
        </p:spPr>
      </p:pic>
      <p:pic>
        <p:nvPicPr>
          <p:cNvPr id="6" name="Image 1" descr="media_export/image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14884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finds 5% Ca on A1 and a 23.6 degree meta-prism twist</a:t>
            </a:r>
            <a:endParaRPr lang="en-US" sz="2400" dirty="0"/>
          </a:p>
        </p:txBody>
      </p:sp>
      <p:pic>
        <p:nvPicPr>
          <p:cNvPr id="4" name="Image 0" descr="media_export/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20" y="1143000"/>
            <a:ext cx="6869719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4630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7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 = 6.29%</a:t>
            </a:r>
            <a:endParaRPr lang="en-US" sz="17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Gd7.7Ca2.3(SiO4)6O2</a:t>
            </a:r>
            <a:endParaRPr lang="en-US" sz="17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Gd2SiO5</a:t>
            </a:r>
            <a:endParaRPr lang="en-US" sz="17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has ~5% on A1</a:t>
            </a:r>
            <a:endParaRPr lang="en-US" sz="17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Meta-prism twist 23.6°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composition Gd8.333Ca1.5(SiO4)6O2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refined Uiso values can flag rattling atoms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4389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vibrations are quantitatively studied in Rietveld refinement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Uiso, or Uij for anisotropic vibration</a:t>
            </a:r>
            <a:endParaRPr lang="en-US" sz="17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 values could be due to rattling</a:t>
            </a:r>
            <a:endParaRPr lang="en-US" sz="17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explanation of RE2SrAl2O7 thermal conductivity?</a:t>
            </a:r>
            <a:endParaRPr lang="en-US" sz="1700" dirty="0"/>
          </a:p>
        </p:txBody>
      </p:sp>
      <p:pic>
        <p:nvPicPr>
          <p:cNvPr id="5" name="Image 0" descr="media_export/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94560"/>
            <a:ext cx="3108960" cy="3108960"/>
          </a:xfrm>
          <a:prstGeom prst="rect">
            <a:avLst/>
          </a:prstGeom>
        </p:spPr>
      </p:pic>
      <p:pic>
        <p:nvPicPr>
          <p:cNvPr id="6" name="Image 1" descr="media_export/image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318212"/>
            <a:ext cx="3566160" cy="28616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and Uiso trends track across the RE2SrAl2O7 series</a:t>
            </a:r>
            <a:endParaRPr lang="en-US" sz="2400" dirty="0"/>
          </a:p>
        </p:txBody>
      </p:sp>
      <p:pic>
        <p:nvPicPr>
          <p:cNvPr id="4" name="Image 0" descr="media_export/imag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891" y="1097280"/>
            <a:ext cx="4454539" cy="3383280"/>
          </a:xfrm>
          <a:prstGeom prst="rect">
            <a:avLst/>
          </a:prstGeom>
        </p:spPr>
      </p:pic>
      <p:pic>
        <p:nvPicPr>
          <p:cNvPr id="5" name="Image 1" descr="media_export/image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482" y="1097280"/>
            <a:ext cx="3939355" cy="338328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1088136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Dy2SrAl2O7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Uiso 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(P2) occupancy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(RS) occupancy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is obvious by eye; Rietveld puts a number on it</a:t>
            </a:r>
            <a:endParaRPr lang="en-US" sz="2400" dirty="0"/>
          </a:p>
        </p:txBody>
      </p:sp>
      <p:pic>
        <p:nvPicPr>
          <p:cNvPr id="4" name="Image 0" descr="media_export/image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0" y="1097280"/>
            <a:ext cx="628650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Sr2Nb2O7: clearly textured to the b-axis, but what is the preferred orientation factor?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March-Dollase refinement gives Sr2Nb2O7 a texture index of 5.52</a:t>
            </a:r>
            <a:endParaRPr lang="en-US" sz="2400" dirty="0"/>
          </a:p>
        </p:txBody>
      </p:sp>
      <p:pic>
        <p:nvPicPr>
          <p:cNvPr id="4" name="Image 0" descr="media_export/imag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1" y="1143000"/>
            <a:ext cx="6862398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A0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 = 6.9%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index = 5.52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actual compound had a small amount of La3+ doped on the Sr2+ site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instrument first; leftover broadening is your sample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instrument shape parameters using a standard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U, V, W give the integral breadth for Scherrer and Stokes analysis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Kλ / (β cosθ)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β / (4 tanθ)</a:t>
            </a:r>
            <a:endParaRPr lang="en-US" sz="16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(βobs − βinst) cosθ = λ/Dv + 4ε sinθ</a:t>
            </a:r>
            <a:endParaRPr lang="en-US" sz="16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Williamson-Hall: plot βcosθ/λ vs 4sinθ; slope and intercept give strain and size</a:t>
            </a:r>
            <a:endParaRPr lang="en-US" sz="1600" dirty="0"/>
          </a:p>
        </p:txBody>
      </p:sp>
      <p:pic>
        <p:nvPicPr>
          <p:cNvPr id="5" name="Image 0" descr="media_export/image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567" y="1280160"/>
            <a:ext cx="458142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Micronized CeO2 refines to 226 Angstrom domains and 0.011% strain</a:t>
            </a:r>
            <a:endParaRPr lang="en-US" sz="2400" dirty="0"/>
          </a:p>
        </p:txBody>
      </p:sp>
      <p:pic>
        <p:nvPicPr>
          <p:cNvPr id="4" name="Image 0" descr="media_export/imag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7494"/>
            <a:ext cx="5669280" cy="4305892"/>
          </a:xfrm>
          <a:prstGeom prst="rect">
            <a:avLst/>
          </a:prstGeom>
        </p:spPr>
      </p:pic>
      <p:pic>
        <p:nvPicPr>
          <p:cNvPr id="5" name="Image 1" descr="media_export/imag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67494"/>
            <a:ext cx="5669280" cy="43058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" y="6473952"/>
            <a:ext cx="11368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CeO2 before and after micronizing; volume-weighted domain size Dv = 226 A, maximum strain e = 0.011%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7E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11480" y="0"/>
            <a:ext cx="11368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Rietveld refinement is a complete quantitative toolkit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44700"/>
            <a:ext cx="6583680" cy="426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structure information</a:t>
            </a:r>
            <a:endParaRPr lang="en-US" sz="18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positions, thermal displacement parameters, occupancy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average structure</a:t>
            </a:r>
            <a:endParaRPr lang="en-US" sz="18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orientation, size, strain, quantitative phase analysis (including amorphous material)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remember</a:t>
            </a:r>
            <a:endParaRPr lang="en-US" sz="18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fits with the profile plot and chemical sense, not Rwp alone</a:t>
            </a:r>
            <a:endParaRPr lang="en-US" sz="180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parameters on in a correlation-aware order</a:t>
            </a:r>
            <a:endParaRPr lang="en-US" sz="1800" dirty="0"/>
          </a:p>
        </p:txBody>
      </p:sp>
      <p:pic>
        <p:nvPicPr>
          <p:cNvPr id="5" name="Image 0" descr="figs/fig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920092"/>
            <a:ext cx="4206240" cy="3566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2326</Words>
  <Application>Microsoft Office PowerPoint</Application>
  <PresentationFormat>Widescreen</PresentationFormat>
  <Paragraphs>267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taylor sparks</cp:lastModifiedBy>
  <cp:revision>2</cp:revision>
  <dcterms:created xsi:type="dcterms:W3CDTF">2026-08-31T15:24:18Z</dcterms:created>
  <dcterms:modified xsi:type="dcterms:W3CDTF">2026-08-31T15:42:07Z</dcterms:modified>
</cp:coreProperties>
</file>