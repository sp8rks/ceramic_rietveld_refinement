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rts/chart1.xml" ContentType="application/vnd.openxmlformats-officedocument.drawingml.chart+xml"/>
  <Override PartName="/ppt/notesSlides/notesSlide47.xml" ContentType="application/vnd.openxmlformats-officedocument.presentationml.notesSlide+xml"/>
  <Override PartName="/ppt/charts/chart2.xml" ContentType="application/vnd.openxmlformats-officedocument.drawingml.chart+xml"/>
  <Override PartName="/ppt/notesSlides/notesSlide48.xml" ContentType="application/vnd.openxmlformats-officedocument.presentationml.notesSlide+xml"/>
  <Override PartName="/ppt/charts/chart3.xml" ContentType="application/vnd.openxmlformats-officedocument.drawingml.chart+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400" b="1">
                <a:solidFill>
                  <a:srgbClr val="333333"/>
                </a:solidFill>
              </a:rPr>
              <a:t>Goodness of fit for each explanation (lower is better)</a:t>
            </a:r>
          </a:p>
        </c:rich>
      </c:tx>
      <c:overlay val="0"/>
    </c:title>
    <c:autoTitleDeleted val="0"/>
    <c:plotArea>
      <c:layout/>
      <c:barChart>
        <c:barDir val="bar"/>
        <c:grouping val="clustered"/>
        <c:varyColors val="1"/>
        <c:ser>
          <c:idx val="0"/>
          <c:order val="0"/>
          <c:tx>
            <c:strRef>
              <c:f>Sheet1!$B$1</c:f>
              <c:strCache>
                <c:ptCount val="1"/>
                <c:pt idx="0">
                  <c:v>GoF</c:v>
                </c:pt>
              </c:strCache>
            </c:strRef>
          </c:tx>
          <c:invertIfNegative val="1"/>
          <c:dPt>
            <c:idx val="0"/>
            <c:invertIfNegative val="1"/>
            <c:bubble3D val="0"/>
            <c:spPr>
              <a:solidFill>
                <a:srgbClr val="2A78D6"/>
              </a:solidFill>
            </c:spPr>
            <c:extLst>
              <c:ext xmlns:c16="http://schemas.microsoft.com/office/drawing/2014/chart" uri="{C3380CC4-5D6E-409C-BE32-E72D297353CC}">
                <c16:uniqueId val="{00000001-6491-4005-B9BA-4A314BD5086A}"/>
              </c:ext>
            </c:extLst>
          </c:dPt>
          <c:dPt>
            <c:idx val="1"/>
            <c:invertIfNegative val="1"/>
            <c:bubble3D val="0"/>
            <c:spPr>
              <a:solidFill>
                <a:srgbClr val="2A78D6"/>
              </a:solidFill>
            </c:spPr>
            <c:extLst>
              <c:ext xmlns:c16="http://schemas.microsoft.com/office/drawing/2014/chart" uri="{C3380CC4-5D6E-409C-BE32-E72D297353CC}">
                <c16:uniqueId val="{00000003-6491-4005-B9BA-4A314BD5086A}"/>
              </c:ext>
            </c:extLst>
          </c:dPt>
          <c:dPt>
            <c:idx val="2"/>
            <c:invertIfNegative val="1"/>
            <c:bubble3D val="0"/>
            <c:spPr>
              <a:solidFill>
                <a:srgbClr val="9DB9DE"/>
              </a:solidFill>
            </c:spPr>
            <c:extLst>
              <c:ext xmlns:c16="http://schemas.microsoft.com/office/drawing/2014/chart" uri="{C3380CC4-5D6E-409C-BE32-E72D297353CC}">
                <c16:uniqueId val="{00000005-6491-4005-B9BA-4A314BD5086A}"/>
              </c:ext>
            </c:extLst>
          </c:dPt>
          <c:dPt>
            <c:idx val="3"/>
            <c:invertIfNegative val="1"/>
            <c:bubble3D val="0"/>
            <c:spPr>
              <a:solidFill>
                <a:srgbClr val="9DB9DE"/>
              </a:solidFill>
            </c:spPr>
            <c:extLst>
              <c:ext xmlns:c16="http://schemas.microsoft.com/office/drawing/2014/chart" uri="{C3380CC4-5D6E-409C-BE32-E72D297353CC}">
                <c16:uniqueId val="{00000007-6491-4005-B9BA-4A314BD5086A}"/>
              </c:ext>
            </c:extLst>
          </c:dPt>
          <c:dPt>
            <c:idx val="4"/>
            <c:invertIfNegative val="1"/>
            <c:bubble3D val="0"/>
            <c:spPr>
              <a:solidFill>
                <a:srgbClr val="9DB9DE"/>
              </a:solidFill>
            </c:spPr>
            <c:extLst>
              <c:ext xmlns:c16="http://schemas.microsoft.com/office/drawing/2014/chart" uri="{C3380CC4-5D6E-409C-BE32-E72D297353CC}">
                <c16:uniqueId val="{00000009-6491-4005-B9BA-4A314BD5086A}"/>
              </c:ext>
            </c:extLst>
          </c:dPt>
          <c:dPt>
            <c:idx val="5"/>
            <c:invertIfNegative val="1"/>
            <c:bubble3D val="0"/>
            <c:spPr>
              <a:solidFill>
                <a:srgbClr val="9DB9DE"/>
              </a:solidFill>
            </c:spPr>
            <c:extLst>
              <c:ext xmlns:c16="http://schemas.microsoft.com/office/drawing/2014/chart" uri="{C3380CC4-5D6E-409C-BE32-E72D297353CC}">
                <c16:uniqueId val="{0000000B-6491-4005-B9BA-4A314BD5086A}"/>
              </c:ext>
            </c:extLst>
          </c:dPt>
          <c:dLbls>
            <c:numFmt formatCode="0.00" sourceLinked="0"/>
            <c:spPr>
              <a:noFill/>
              <a:ln>
                <a:noFill/>
              </a:ln>
              <a:effectLst/>
            </c:spPr>
            <c:txPr>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rietx, roughness (Pitschke)</c:v>
                </c:pt>
                <c:pt idx="1">
                  <c:v>rietx, roughness (Suortti)</c:v>
                </c:pt>
                <c:pt idx="2">
                  <c:v>rietx, variable slit (tested)</c:v>
                </c:pt>
                <c:pt idx="3">
                  <c:v>rietx, B held, no correction</c:v>
                </c:pt>
                <c:pt idx="4">
                  <c:v>rietx, B refined (B &lt; 0)</c:v>
                </c:pt>
                <c:pt idx="5">
                  <c:v>GSAS-II, B refined (B &lt; 0)</c:v>
                </c:pt>
              </c:strCache>
            </c:strRef>
          </c:cat>
          <c:val>
            <c:numRef>
              <c:f>Sheet1!$B$2:$B$7</c:f>
              <c:numCache>
                <c:formatCode>General</c:formatCode>
                <c:ptCount val="6"/>
                <c:pt idx="0">
                  <c:v>2.2799999999999998</c:v>
                </c:pt>
                <c:pt idx="1">
                  <c:v>2.31</c:v>
                </c:pt>
                <c:pt idx="2">
                  <c:v>4.6500000000000004</c:v>
                </c:pt>
                <c:pt idx="3">
                  <c:v>7.77</c:v>
                </c:pt>
                <c:pt idx="4">
                  <c:v>4.58</c:v>
                </c:pt>
                <c:pt idx="5">
                  <c:v>5.36</c:v>
                </c:pt>
              </c:numCache>
            </c:numRef>
          </c:val>
          <c:extLst>
            <c:ext xmlns:c16="http://schemas.microsoft.com/office/drawing/2014/chart" uri="{C3380CC4-5D6E-409C-BE32-E72D297353CC}">
              <c16:uniqueId val="{0000000C-6491-4005-B9BA-4A314BD5086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CCCCC"/>
            </a:solidFill>
          </a:ln>
        </c:spPr>
        <c:txPr>
          <a:bodyPr/>
          <a:lstStyle/>
          <a:p>
            <a:pPr>
              <a:defRPr sz="1200">
                <a:solidFill>
                  <a:srgbClr val="333333"/>
                </a:solidFill>
              </a:defRPr>
            </a:pPr>
            <a:endParaRPr lang="en-US"/>
          </a:p>
        </c:txPr>
        <c:crossAx val="-2113994440"/>
        <c:crosses val="autoZero"/>
        <c:auto val="1"/>
        <c:lblAlgn val="ctr"/>
        <c:lblOffset val="100"/>
        <c:noMultiLvlLbl val="0"/>
      </c:catAx>
      <c:valAx>
        <c:axId val="-2113994440"/>
        <c:scaling>
          <c:orientation val="minMax"/>
          <c:max val="9"/>
          <c:min val="0"/>
        </c:scaling>
        <c:delete val="0"/>
        <c:axPos val="b"/>
        <c:majorGridlines>
          <c:spPr>
            <a:ln>
              <a:solidFill>
                <a:srgbClr val="E3E3E3"/>
              </a:solidFill>
            </a:ln>
          </c:spPr>
        </c:majorGridlines>
        <c:numFmt formatCode="0" sourceLinked="0"/>
        <c:majorTickMark val="out"/>
        <c:minorTickMark val="none"/>
        <c:tickLblPos val="nextTo"/>
        <c:spPr>
          <a:ln>
            <a:solidFill>
              <a:srgbClr val="CCCCCC"/>
            </a:solidFill>
          </a:ln>
        </c:spPr>
        <c:txPr>
          <a:bodyPr/>
          <a:lstStyle/>
          <a:p>
            <a:pPr>
              <a:defRPr sz="1200">
                <a:solidFill>
                  <a:srgbClr val="333333"/>
                </a:solidFill>
              </a:defRPr>
            </a:pPr>
            <a:endParaRPr lang="en-US"/>
          </a:p>
        </c:txPr>
        <c:crossAx val="-2068027336"/>
        <c:crosses val="autoZero"/>
        <c:crossBetween val="between"/>
      </c:valAx>
    </c:plotArea>
    <c:plotVisOnly val="1"/>
    <c:dispBlanksAs val="gap"/>
    <c:showDLblsOverMax val="1"/>
  </c:chart>
  <c:txPr>
    <a:bodyPr/>
    <a:lstStyle/>
    <a:p>
      <a:pPr>
        <a:defRPr sz="1200">
          <a:solidFill>
            <a:srgbClr val="3333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400" b="1">
                <a:solidFill>
                  <a:srgbClr val="333333"/>
                </a:solidFill>
              </a:rPr>
              <a:t>Si reflections: observed vs calculated intensity (%)</a:t>
            </a:r>
          </a:p>
        </c:rich>
      </c:tx>
      <c:overlay val="0"/>
    </c:title>
    <c:autoTitleDeleted val="0"/>
    <c:plotArea>
      <c:layout/>
      <c:barChart>
        <c:barDir val="col"/>
        <c:grouping val="clustered"/>
        <c:varyColors val="1"/>
        <c:ser>
          <c:idx val="0"/>
          <c:order val="0"/>
          <c:tx>
            <c:strRef>
              <c:f>Sheet1!$B$1</c:f>
              <c:strCache>
                <c:ptCount val="1"/>
                <c:pt idx="0">
                  <c:v>90/10 mount</c:v>
                </c:pt>
              </c:strCache>
            </c:strRef>
          </c:tx>
          <c:spPr>
            <a:solidFill>
              <a:srgbClr val="2A78D6"/>
            </a:solidFill>
          </c:spPr>
          <c:invertIfNegative val="0"/>
          <c:dLbls>
            <c:numFmt formatCode="\+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111</c:v>
                </c:pt>
                <c:pt idx="1">
                  <c:v>220</c:v>
                </c:pt>
                <c:pt idx="2">
                  <c:v>311</c:v>
                </c:pt>
                <c:pt idx="3">
                  <c:v>400</c:v>
                </c:pt>
                <c:pt idx="4">
                  <c:v>331</c:v>
                </c:pt>
              </c:strCache>
            </c:strRef>
          </c:cat>
          <c:val>
            <c:numRef>
              <c:f>Sheet1!$B$2:$B$6</c:f>
              <c:numCache>
                <c:formatCode>General</c:formatCode>
                <c:ptCount val="5"/>
                <c:pt idx="0">
                  <c:v>7</c:v>
                </c:pt>
                <c:pt idx="1">
                  <c:v>-18</c:v>
                </c:pt>
                <c:pt idx="2">
                  <c:v>115</c:v>
                </c:pt>
                <c:pt idx="3">
                  <c:v>11</c:v>
                </c:pt>
                <c:pt idx="4">
                  <c:v>-38</c:v>
                </c:pt>
              </c:numCache>
            </c:numRef>
          </c:val>
          <c:extLst>
            <c:ext xmlns:c16="http://schemas.microsoft.com/office/drawing/2014/chart" uri="{C3380CC4-5D6E-409C-BE32-E72D297353CC}">
              <c16:uniqueId val="{00000000-8CAD-4169-9E9D-058E4FF0FFE7}"/>
            </c:ext>
          </c:extLst>
        </c:ser>
        <c:ser>
          <c:idx val="1"/>
          <c:order val="1"/>
          <c:tx>
            <c:strRef>
              <c:f>Sheet1!$C$1</c:f>
              <c:strCache>
                <c:ptCount val="1"/>
                <c:pt idx="0">
                  <c:v>second mount (Al2O3_Si_SiO2)</c:v>
                </c:pt>
              </c:strCache>
            </c:strRef>
          </c:tx>
          <c:spPr>
            <a:solidFill>
              <a:srgbClr val="EB6834"/>
            </a:solidFill>
          </c:spPr>
          <c:invertIfNegative val="0"/>
          <c:dLbls>
            <c:numFmt formatCode="\+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111</c:v>
                </c:pt>
                <c:pt idx="1">
                  <c:v>220</c:v>
                </c:pt>
                <c:pt idx="2">
                  <c:v>311</c:v>
                </c:pt>
                <c:pt idx="3">
                  <c:v>400</c:v>
                </c:pt>
                <c:pt idx="4">
                  <c:v>331</c:v>
                </c:pt>
              </c:strCache>
            </c:strRef>
          </c:cat>
          <c:val>
            <c:numRef>
              <c:f>Sheet1!$C$2:$C$6</c:f>
              <c:numCache>
                <c:formatCode>General</c:formatCode>
                <c:ptCount val="5"/>
                <c:pt idx="0">
                  <c:v>4</c:v>
                </c:pt>
                <c:pt idx="1">
                  <c:v>10</c:v>
                </c:pt>
                <c:pt idx="2">
                  <c:v>-7</c:v>
                </c:pt>
                <c:pt idx="3">
                  <c:v>2</c:v>
                </c:pt>
                <c:pt idx="4">
                  <c:v>3</c:v>
                </c:pt>
              </c:numCache>
            </c:numRef>
          </c:val>
          <c:extLst>
            <c:ext xmlns:c16="http://schemas.microsoft.com/office/drawing/2014/chart" uri="{C3380CC4-5D6E-409C-BE32-E72D297353CC}">
              <c16:uniqueId val="{00000001-8CAD-4169-9E9D-058E4FF0FFE7}"/>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CCCCCC"/>
            </a:solidFill>
          </a:ln>
        </c:spPr>
        <c:txPr>
          <a:bodyPr/>
          <a:lstStyle/>
          <a:p>
            <a:pPr>
              <a:defRPr sz="1200">
                <a:solidFill>
                  <a:srgbClr val="333333"/>
                </a:solidFill>
              </a:defRPr>
            </a:pPr>
            <a:endParaRPr lang="en-US"/>
          </a:p>
        </c:txPr>
        <c:crossAx val="-2113994440"/>
        <c:crosses val="autoZero"/>
        <c:auto val="1"/>
        <c:lblAlgn val="ctr"/>
        <c:lblOffset val="100"/>
        <c:noMultiLvlLbl val="0"/>
      </c:catAx>
      <c:valAx>
        <c:axId val="-2113994440"/>
        <c:scaling>
          <c:orientation val="minMax"/>
          <c:max val="140"/>
          <c:min val="-60"/>
        </c:scaling>
        <c:delete val="0"/>
        <c:axPos val="l"/>
        <c:majorGridlines>
          <c:spPr>
            <a:ln>
              <a:solidFill>
                <a:srgbClr val="E3E3E3"/>
              </a:solidFill>
            </a:ln>
          </c:spPr>
        </c:majorGridlines>
        <c:numFmt formatCode="\+0;\−0;0" sourceLinked="0"/>
        <c:majorTickMark val="out"/>
        <c:minorTickMark val="none"/>
        <c:tickLblPos val="nextTo"/>
        <c:spPr>
          <a:ln>
            <a:solidFill>
              <a:srgbClr val="CCCCCC"/>
            </a:solidFill>
          </a:ln>
        </c:spPr>
        <c:txPr>
          <a:bodyPr/>
          <a:lstStyle/>
          <a:p>
            <a:pPr>
              <a:defRPr sz="1200">
                <a:solidFill>
                  <a:srgbClr val="333333"/>
                </a:solidFill>
              </a:defRPr>
            </a:pPr>
            <a:endParaRPr lang="en-US"/>
          </a:p>
        </c:txPr>
        <c:crossAx val="-2068027336"/>
        <c:crosses val="autoZero"/>
        <c:crossBetween val="between"/>
        <c:majorUnit val="20"/>
      </c:valAx>
    </c:plotArea>
    <c:legend>
      <c:legendPos val="b"/>
      <c:overlay val="0"/>
      <c:txPr>
        <a:bodyPr/>
        <a:lstStyle/>
        <a:p>
          <a:pPr>
            <a:defRPr sz="1200"/>
          </a:pPr>
          <a:endParaRPr lang="en-US"/>
        </a:p>
      </c:txPr>
    </c:legend>
    <c:plotVisOnly val="1"/>
    <c:dispBlanksAs val="gap"/>
    <c:showDLblsOverMax val="1"/>
  </c:chart>
  <c:txPr>
    <a:bodyPr/>
    <a:lstStyle/>
    <a:p>
      <a:pPr>
        <a:defRPr sz="1200">
          <a:solidFill>
            <a:srgbClr val="3333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400" b="1">
                <a:solidFill>
                  <a:srgbClr val="333333"/>
                </a:solidFill>
              </a:rPr>
              <a:t>wt% Co3O4 (rest is CoO)</a:t>
            </a:r>
          </a:p>
        </c:rich>
      </c:tx>
      <c:overlay val="0"/>
    </c:title>
    <c:autoTitleDeleted val="0"/>
    <c:plotArea>
      <c:layout/>
      <c:scatterChart>
        <c:scatterStyle val="lineMarker"/>
        <c:varyColors val="0"/>
        <c:ser>
          <c:idx val="0"/>
          <c:order val="0"/>
          <c:tx>
            <c:strRef>
              <c:f>Sheet1!$B$1</c:f>
              <c:strCache>
                <c:ptCount val="1"/>
                <c:pt idx="0">
                  <c:v>heating</c:v>
                </c:pt>
              </c:strCache>
            </c:strRef>
          </c:tx>
          <c:spPr>
            <a:ln w="28575">
              <a:solidFill>
                <a:srgbClr val="2A78D6"/>
              </a:solidFill>
            </a:ln>
          </c:spPr>
          <c:marker>
            <c:symbol val="circle"/>
            <c:size val="9"/>
            <c:spPr>
              <a:solidFill>
                <a:srgbClr val="2A78D6"/>
              </a:solidFill>
              <a:ln w="25400">
                <a:solidFill>
                  <a:srgbClr val="2A78D6"/>
                </a:solidFill>
              </a:ln>
            </c:spPr>
          </c:marker>
          <c:xVal>
            <c:numRef>
              <c:f>Sheet1!$A$2:$A$7</c:f>
              <c:numCache>
                <c:formatCode>General</c:formatCode>
                <c:ptCount val="6"/>
                <c:pt idx="0">
                  <c:v>25</c:v>
                </c:pt>
                <c:pt idx="1">
                  <c:v>350</c:v>
                </c:pt>
                <c:pt idx="2">
                  <c:v>650</c:v>
                </c:pt>
                <c:pt idx="3">
                  <c:v>820</c:v>
                </c:pt>
                <c:pt idx="4">
                  <c:v>880</c:v>
                </c:pt>
                <c:pt idx="5">
                  <c:v>1000</c:v>
                </c:pt>
              </c:numCache>
            </c:numRef>
          </c:xVal>
          <c:yVal>
            <c:numRef>
              <c:f>Sheet1!$B$2:$B$7</c:f>
              <c:numCache>
                <c:formatCode>General</c:formatCode>
                <c:ptCount val="6"/>
                <c:pt idx="0">
                  <c:v>59.8</c:v>
                </c:pt>
                <c:pt idx="1">
                  <c:v>61.3</c:v>
                </c:pt>
                <c:pt idx="2">
                  <c:v>79</c:v>
                </c:pt>
                <c:pt idx="3">
                  <c:v>99.1</c:v>
                </c:pt>
                <c:pt idx="4">
                  <c:v>100</c:v>
                </c:pt>
                <c:pt idx="5">
                  <c:v>0</c:v>
                </c:pt>
              </c:numCache>
            </c:numRef>
          </c:yVal>
          <c:smooth val="0"/>
          <c:extLst>
            <c:ext xmlns:c16="http://schemas.microsoft.com/office/drawing/2014/chart" uri="{C3380CC4-5D6E-409C-BE32-E72D297353CC}">
              <c16:uniqueId val="{00000000-C618-496E-9A66-4727E2BAC1F3}"/>
            </c:ext>
          </c:extLst>
        </c:ser>
        <c:ser>
          <c:idx val="1"/>
          <c:order val="1"/>
          <c:tx>
            <c:strRef>
              <c:f>Sheet1!$B$9</c:f>
              <c:strCache>
                <c:ptCount val="1"/>
                <c:pt idx="0">
                  <c:v>cooling</c:v>
                </c:pt>
              </c:strCache>
            </c:strRef>
          </c:tx>
          <c:spPr>
            <a:ln w="28575">
              <a:solidFill>
                <a:srgbClr val="EB6834"/>
              </a:solidFill>
            </a:ln>
          </c:spPr>
          <c:marker>
            <c:symbol val="square"/>
            <c:size val="9"/>
            <c:spPr>
              <a:solidFill>
                <a:srgbClr val="FFFFFF"/>
              </a:solidFill>
              <a:ln w="25400">
                <a:solidFill>
                  <a:srgbClr val="EB6834"/>
                </a:solidFill>
              </a:ln>
            </c:spPr>
          </c:marker>
          <c:xVal>
            <c:numRef>
              <c:f>Sheet1!$A$10:$A$16</c:f>
              <c:numCache>
                <c:formatCode>General</c:formatCode>
                <c:ptCount val="7"/>
                <c:pt idx="0">
                  <c:v>1000</c:v>
                </c:pt>
                <c:pt idx="1">
                  <c:v>880</c:v>
                </c:pt>
                <c:pt idx="2">
                  <c:v>840</c:v>
                </c:pt>
                <c:pt idx="3">
                  <c:v>820</c:v>
                </c:pt>
                <c:pt idx="4">
                  <c:v>650</c:v>
                </c:pt>
                <c:pt idx="5">
                  <c:v>350</c:v>
                </c:pt>
                <c:pt idx="6">
                  <c:v>25</c:v>
                </c:pt>
              </c:numCache>
            </c:numRef>
          </c:xVal>
          <c:yVal>
            <c:numRef>
              <c:f>Sheet1!$B$10:$B$16</c:f>
              <c:numCache>
                <c:formatCode>General</c:formatCode>
                <c:ptCount val="7"/>
                <c:pt idx="0">
                  <c:v>0</c:v>
                </c:pt>
                <c:pt idx="1">
                  <c:v>20</c:v>
                </c:pt>
                <c:pt idx="2">
                  <c:v>87.8</c:v>
                </c:pt>
                <c:pt idx="3">
                  <c:v>92.3</c:v>
                </c:pt>
                <c:pt idx="4">
                  <c:v>93.7</c:v>
                </c:pt>
                <c:pt idx="5">
                  <c:v>93.7</c:v>
                </c:pt>
                <c:pt idx="6">
                  <c:v>93.8</c:v>
                </c:pt>
              </c:numCache>
            </c:numRef>
          </c:yVal>
          <c:smooth val="0"/>
          <c:extLst>
            <c:ext xmlns:c16="http://schemas.microsoft.com/office/drawing/2014/chart" uri="{C3380CC4-5D6E-409C-BE32-E72D297353CC}">
              <c16:uniqueId val="{00000001-C618-496E-9A66-4727E2BAC1F3}"/>
            </c:ext>
          </c:extLst>
        </c:ser>
        <c:dLbls>
          <c:showLegendKey val="0"/>
          <c:showVal val="0"/>
          <c:showCatName val="0"/>
          <c:showSerName val="0"/>
          <c:showPercent val="0"/>
          <c:showBubbleSize val="0"/>
        </c:dLbls>
        <c:axId val="-2128940872"/>
        <c:axId val="-2129643912"/>
      </c:scatterChart>
      <c:valAx>
        <c:axId val="-2128940872"/>
        <c:scaling>
          <c:orientation val="minMax"/>
          <c:max val="1050"/>
          <c:min val="0"/>
        </c:scaling>
        <c:delete val="0"/>
        <c:axPos val="b"/>
        <c:title>
          <c:tx>
            <c:rich>
              <a:bodyPr/>
              <a:lstStyle/>
              <a:p>
                <a:r>
                  <a:rPr sz="1200" b="0">
                    <a:solidFill>
                      <a:srgbClr val="333333"/>
                    </a:solidFill>
                  </a:rPr>
                  <a:t>T (°C)</a:t>
                </a:r>
              </a:p>
            </c:rich>
          </c:tx>
          <c:overlay val="0"/>
        </c:title>
        <c:numFmt formatCode="0" sourceLinked="0"/>
        <c:majorTickMark val="out"/>
        <c:minorTickMark val="none"/>
        <c:tickLblPos val="nextTo"/>
        <c:spPr>
          <a:ln>
            <a:solidFill>
              <a:srgbClr val="CCCCCC"/>
            </a:solidFill>
          </a:ln>
        </c:spPr>
        <c:txPr>
          <a:bodyPr/>
          <a:lstStyle/>
          <a:p>
            <a:pPr>
              <a:defRPr sz="1200">
                <a:solidFill>
                  <a:srgbClr val="333333"/>
                </a:solidFill>
              </a:defRPr>
            </a:pPr>
            <a:endParaRPr lang="en-US"/>
          </a:p>
        </c:txPr>
        <c:crossAx val="-2129643912"/>
        <c:crosses val="autoZero"/>
        <c:crossBetween val="midCat"/>
        <c:majorUnit val="200"/>
      </c:valAx>
      <c:valAx>
        <c:axId val="-2129643912"/>
        <c:scaling>
          <c:orientation val="minMax"/>
          <c:max val="100"/>
          <c:min val="0"/>
        </c:scaling>
        <c:delete val="0"/>
        <c:axPos val="l"/>
        <c:majorGridlines>
          <c:spPr>
            <a:ln>
              <a:solidFill>
                <a:srgbClr val="E3E3E3"/>
              </a:solidFill>
            </a:ln>
          </c:spPr>
        </c:majorGridlines>
        <c:title>
          <c:tx>
            <c:rich>
              <a:bodyPr/>
              <a:lstStyle/>
              <a:p>
                <a:r>
                  <a:rPr sz="1200" b="0">
                    <a:solidFill>
                      <a:srgbClr val="333333"/>
                    </a:solidFill>
                  </a:rPr>
                  <a:t>wt% Co3O4</a:t>
                </a:r>
              </a:p>
            </c:rich>
          </c:tx>
          <c:overlay val="0"/>
        </c:title>
        <c:numFmt formatCode="0" sourceLinked="0"/>
        <c:majorTickMark val="out"/>
        <c:minorTickMark val="none"/>
        <c:tickLblPos val="nextTo"/>
        <c:spPr>
          <a:ln>
            <a:solidFill>
              <a:srgbClr val="CCCCCC"/>
            </a:solidFill>
          </a:ln>
        </c:spPr>
        <c:txPr>
          <a:bodyPr/>
          <a:lstStyle/>
          <a:p>
            <a:pPr>
              <a:defRPr sz="1200">
                <a:solidFill>
                  <a:srgbClr val="333333"/>
                </a:solidFill>
              </a:defRPr>
            </a:pPr>
            <a:endParaRPr lang="en-US"/>
          </a:p>
        </c:txPr>
        <c:crossAx val="-2128940872"/>
        <c:crosses val="autoZero"/>
        <c:crossBetween val="midCat"/>
        <c:majorUnit val="20"/>
      </c:valAx>
    </c:plotArea>
    <c:legend>
      <c:legendPos val="b"/>
      <c:overlay val="0"/>
      <c:txPr>
        <a:bodyPr/>
        <a:lstStyle/>
        <a:p>
          <a:pPr>
            <a:defRPr sz="1200"/>
          </a:pPr>
          <a:endParaRPr lang="en-US"/>
        </a:p>
      </c:txPr>
    </c:legend>
    <c:plotVisOnly val="1"/>
    <c:dispBlanksAs val="gap"/>
    <c:showDLblsOverMax val="0"/>
  </c:chart>
  <c:txPr>
    <a:bodyPr/>
    <a:lstStyle/>
    <a:p>
      <a:pPr>
        <a:defRPr sz="1200">
          <a:solidFill>
            <a:srgbClr val="3333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142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Rietveld 1969. Emphasize: we fit the WHOLE pattern with a physical model. http://www.ccp14.ac.uk/poster-talks/rietveld-csiro-axaa-99/rietveld/index.htm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GSAS-II tutorials: https://advancedphotonsource.github.io/GSAS-II-tutorials/index.html  PowDLL: http://users.uoi.gr/nkourkou/powdll/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 incident intensity, geometry, absorption, phase volume fraction, multiplicity, Lorentz-polarization, unit-cell volume, and |F(hkl)|^2. Point at each factor: this is why intensities carry structural information.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https://www.xtl.ox.ac.uk/resources/software/fprime.html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for everything that follows: every checkbox in GSAS-II lands in one bucket. Positions, shapes, or intensities. When a fit is bad, diagnose by bucket before touching anything.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shift is constant; displacement dies off as cos(theta). Nearly identical below ~40 deg, so refining both from limited data is asking for trouble. Internal Si standard breaks the tie. McCusker: if positions are off, nothing else can converge.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 V, W set the Gaussian width; X and Y the Lorentzian. Key point: X goes as tan(theta) like strain, Y as 1/cos(theta) like Scherrer size. Characterize the instrument with a standard first; sample broadening is what is left over.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Debye ring is curved, the slit is straight. At low angle the curvature within the slit smears counts to low 2-theta, so peaks lean left. Use the FCJ correction; if you fake it with extra width, sizes and strains come out wrong.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fix vs software fix. Soller slits shrink H in the H^2/2r shift, trading intensity for shape. Good instruments do both: collimate what you can, model what remains with FCJ.</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Intensity error: single lobe. Position error: sideways S. Width error: M or W. Missing asymmetry: wiggle in the tails. Real refinements superpose these. Have audience call out the fingerprint for each panel.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have the identical peak misfit; only the background changed, and Rwp fell from 18 to 4 percent. Moral: Rwp is not comparable across experiments. The Le Bail fit is your floor. Judge with the plot and chemistry (Toby 2006).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cycles in small batches, watch shift/esd, and be willing to back out. A flat Rwp can be a shelf, not the floor.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recipe is correlation management: free the parameters that move the residual most and fight least, first. Heat map shows the usual suspects: scale vs Uiso vs occupancy, zero vs displacement, U vs V vs W. End with the 3-to-5 observations-per-parameter rule.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CPD Rietveld QPA round robin, Amoco results. https://journals.iucr.org/j/issues/2001/04/00/hw0085/hw0085.pdf</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 et al., Structural derivation and crystal chemistry of apatites, Acta Cryst. B59, 1-16 (2003)</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This section introduces a second track for the workshop. GSAS-II stays the tool we learn with. rietx is a Python package that runs the same refinements as a script and attaches diagnostics to every result. Everything in the next slides was run on the same data files you already downloaded, and the notebooks are in the repository.</a:t>
            </a:r>
          </a:p>
        </p:txBody>
      </p:sp>
    </p:spTree>
    <p:extLst>
      <p:ext uri="{BB962C8B-B14F-4D97-AF65-F5344CB8AC3E}">
        <p14:creationId xmlns:p14="http://schemas.microsoft.com/office/powerpoint/2010/main" val="10554500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The point of this slide is that these are complements, not competitors. Manual refinement builds intuition: you see each parameter move the pattern. A script makes the protocol explicit and repeatable, scales to many patterns, and rietx adds typed diagnostics that check each number. The cons column on the right is real: a script will happily follow a bad instruction, and an AI assistant can state things confidently that the data do not support.</a:t>
            </a:r>
          </a:p>
        </p:txBody>
      </p:sp>
    </p:spTree>
    <p:extLst>
      <p:ext uri="{BB962C8B-B14F-4D97-AF65-F5344CB8AC3E}">
        <p14:creationId xmlns:p14="http://schemas.microsoft.com/office/powerpoint/2010/main" val="18971074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This is essentially the whole LaB6 calibration from notebook 01. The plan names encode the turn-on order we discussed earlier: scale and background, then zero and displacement, then W, then U V X Y, then axial divergence, then Biso. The important part is the output on the right: every result carries diagnostics with a code, a location and a suggestion. That is what makes it possible to check an AI assistant's work.</a:t>
            </a:r>
          </a:p>
        </p:txBody>
      </p:sp>
    </p:spTree>
    <p:extLst>
      <p:ext uri="{BB962C8B-B14F-4D97-AF65-F5344CB8AC3E}">
        <p14:creationId xmlns:p14="http://schemas.microsoft.com/office/powerpoint/2010/main" val="27241879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Both GSAS-II and rietx gave LaB6 negative displacement parameters. Holding B at a physical value made the fit worse, and rietx's region-by-region report showed why: calculated intensities were 30 percent too strong at low angle and 30 to 40 percent too weak at high angle. We then tested rival physical causes against the data. A variable divergence slit does not fix it, and the file header says the slit was fixed anyway. Surface roughness does, at a Delta BIC of about plus 330. The calibration also agrees with GSAS-II on the instrument terms to roughly the level you would expect from two different peak-shape models.</a:t>
            </a:r>
          </a:p>
        </p:txBody>
      </p:sp>
    </p:spTree>
    <p:extLst>
      <p:ext uri="{BB962C8B-B14F-4D97-AF65-F5344CB8AC3E}">
        <p14:creationId xmlns:p14="http://schemas.microsoft.com/office/powerpoint/2010/main" val="36519259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Two independent codes agree to within 0.1 weight percent, and both disagree with the balance by a factor of three on the silicon. Agreement between codes is not accuracy. The chart is the key evidence: for each silicon reflection, how far the observed intensity sits from the calculated one. In the 90/10 mount the 311 is more than twice its calculated value and 331 is 38 percent low. Counting errors are a few percent. A second mount on the same instrument sits within 10 percent everywhere. Microabsorption or amorphous content would scale every reflection by the same factor, so this scatter points at particle statistics: coarse silicon in an unspun specimen. Amorphous content is actually ruled out by arithmetic: it would make silicon read high, not low.</a:t>
            </a:r>
          </a:p>
        </p:txBody>
      </p:sp>
    </p:spTree>
    <p:extLst>
      <p:ext uri="{BB962C8B-B14F-4D97-AF65-F5344CB8AC3E}">
        <p14:creationId xmlns:p14="http://schemas.microsoft.com/office/powerpoint/2010/main" val="37513876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Twelve in-situ scans from 25 to 1000 degrees and back, refined in one script. Each scan is warm-started from the previous one, the whole chain is run forward and backward to check that the answer does not depend on the order, and flagged jumps are refit independently. Heating: CoO oxidises to spinel and is fully converted by 820 to 880 degrees, then at 1000 degrees the spinel decomposes completely to CoO. Cooling: CoO re-oxidises, but stalls at about 94 percent. The peaks that were excluded as an impurity in the GSAS-II refinement are cobalt K-beta lines, so here they are modelled as a third emission line instead of thrown away.</a:t>
            </a:r>
          </a:p>
        </p:txBody>
      </p:sp>
    </p:spTree>
    <p:extLst>
      <p:ext uri="{BB962C8B-B14F-4D97-AF65-F5344CB8AC3E}">
        <p14:creationId xmlns:p14="http://schemas.microsoft.com/office/powerpoint/2010/main" val="35735794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Full disclosure: these four refinements in the repository are mine. They were quick teaching refinements, not final analyses, but they are exactly the kind of fit a busy expert accepts. Running the same data through a diagnostic-driven script caught all four. The common thread is that the script does not get tired or satisfied: it reports every negative B, every unmatched peak, every wrong basin, and it tests alternatives systematically. That is context a human can miss on a fast pass.</a:t>
            </a:r>
          </a:p>
        </p:txBody>
      </p:sp>
    </p:spTree>
    <p:extLst>
      <p:ext uri="{BB962C8B-B14F-4D97-AF65-F5344CB8AC3E}">
        <p14:creationId xmlns:p14="http://schemas.microsoft.com/office/powerpoint/2010/main" val="28570812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The flip side, from the same project. The AI assistant drafted the notebooks' explanations before running the code, and four of its claims were wrong when the numbers came back. Every one was caught only because each claim was checked against an executed result. The tool itself also has blind spots: it reused a calibration from a different diffractometer because it was told to, one of its own self-checks mislabelled a real phase change, and it cannot know anything about how the specimen was prepared. Treat it like a fast, tireless, overconfident graduate student.</a:t>
            </a:r>
          </a:p>
        </p:txBody>
      </p:sp>
    </p:spTree>
    <p:extLst>
      <p:ext uri="{BB962C8B-B14F-4D97-AF65-F5344CB8AC3E}">
        <p14:creationId xmlns:p14="http://schemas.microsoft.com/office/powerpoint/2010/main" val="18837088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Everything shown in this section is in the repository, in the folder 'scripted refinement (rietx)'. The notebooks are saved with their outputs, so students can read them on GitHub without installing anything. To run them: Python 3.11 or newer, pip install the requirements file, and open JupyterLab. Run notebook 01 first, because it writes the instrument profile notebook 02 uses. The repository also contains the rietx skill for Claude Code, so students can ask Claude to refine a pattern and it will follow the same protocol and diagnostics.</a:t>
            </a:r>
          </a:p>
        </p:txBody>
      </p:sp>
    </p:spTree>
    <p:extLst>
      <p:ext uri="{BB962C8B-B14F-4D97-AF65-F5344CB8AC3E}">
        <p14:creationId xmlns:p14="http://schemas.microsoft.com/office/powerpoint/2010/main" val="451145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3.jpeg"/></Relationships>
</file>

<file path=ppt/slides/_rels/slide2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5.jpe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3.jpeg"/></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hyperlink" Target="https://github.com/sp8rks/Ceramic_Rietveld_Refinement/tree/main/scripted%20refinement%20(rietx)" TargetMode="External"/><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edia_export/image2.jpg"/>
          <p:cNvPicPr>
            <a:picLocks noChangeAspect="1"/>
          </p:cNvPicPr>
          <p:nvPr/>
        </p:nvPicPr>
        <p:blipFill>
          <a:blip r:embed="rId3"/>
          <a:stretch>
            <a:fillRect/>
          </a:stretch>
        </p:blipFill>
        <p:spPr>
          <a:xfrm>
            <a:off x="6035040" y="352044"/>
            <a:ext cx="6153912" cy="6153912"/>
          </a:xfrm>
          <a:prstGeom prst="rect">
            <a:avLst/>
          </a:prstGeom>
        </p:spPr>
      </p:pic>
      <p:sp>
        <p:nvSpPr>
          <p:cNvPr id="3" name="Shape 0"/>
          <p:cNvSpPr/>
          <p:nvPr/>
        </p:nvSpPr>
        <p:spPr>
          <a:xfrm>
            <a:off x="0" y="2148840"/>
            <a:ext cx="6035040" cy="1828800"/>
          </a:xfrm>
          <a:prstGeom prst="rect">
            <a:avLst/>
          </a:prstGeom>
          <a:solidFill>
            <a:srgbClr val="2A7E7B"/>
          </a:solidFill>
          <a:ln/>
        </p:spPr>
        <p:txBody>
          <a:bodyPr/>
          <a:lstStyle/>
          <a:p>
            <a:endParaRPr lang="en-US"/>
          </a:p>
        </p:txBody>
      </p:sp>
      <p:sp>
        <p:nvSpPr>
          <p:cNvPr id="4" name="Text 1"/>
          <p:cNvSpPr txBox="1"/>
          <p:nvPr/>
        </p:nvSpPr>
        <p:spPr>
          <a:xfrm>
            <a:off x="457200" y="2148840"/>
            <a:ext cx="5394960" cy="1828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Rietveld Refinement of Powder Diffraction Data</a:t>
            </a:r>
            <a:endParaRPr lang="en-US" sz="3200" dirty="0"/>
          </a:p>
        </p:txBody>
      </p:sp>
      <p:sp>
        <p:nvSpPr>
          <p:cNvPr id="5" name="Text 2"/>
          <p:cNvSpPr txBox="1"/>
          <p:nvPr/>
        </p:nvSpPr>
        <p:spPr>
          <a:xfrm>
            <a:off x="457200" y="4206240"/>
            <a:ext cx="5394960" cy="822960"/>
          </a:xfrm>
          <a:prstGeom prst="rect">
            <a:avLst/>
          </a:prstGeom>
          <a:noFill/>
          <a:ln/>
        </p:spPr>
        <p:txBody>
          <a:bodyPr wrap="square" lIns="0" tIns="0" rIns="0" bIns="0" rtlCol="0" anchor="ctr"/>
          <a:lstStyle/>
          <a:p>
            <a:pPr marL="0" indent="0">
              <a:buNone/>
            </a:pPr>
            <a:r>
              <a:rPr lang="en-US" sz="1500" dirty="0">
                <a:solidFill>
                  <a:srgbClr val="333333"/>
                </a:solidFill>
                <a:latin typeface="Calibri" pitchFamily="34" charset="0"/>
                <a:ea typeface="Calibri" pitchFamily="34" charset="-122"/>
                <a:cs typeface="Calibri" pitchFamily="34" charset="-120"/>
              </a:rPr>
              <a:t>ACerS Workshop: Tools for Visualizing and Understanding the Structure of Crystalline Ceramics</a:t>
            </a:r>
            <a:endParaRPr lang="en-US" sz="1500" dirty="0"/>
          </a:p>
        </p:txBody>
      </p:sp>
      <p:sp>
        <p:nvSpPr>
          <p:cNvPr id="6" name="Text 3"/>
          <p:cNvSpPr txBox="1"/>
          <p:nvPr/>
        </p:nvSpPr>
        <p:spPr>
          <a:xfrm>
            <a:off x="457200" y="5120640"/>
            <a:ext cx="5394960" cy="822960"/>
          </a:xfrm>
          <a:prstGeom prst="rect">
            <a:avLst/>
          </a:prstGeom>
          <a:noFill/>
          <a:ln/>
        </p:spPr>
        <p:txBody>
          <a:bodyPr wrap="square" lIns="0" tIns="0" rIns="0" bIns="0" rtlCol="0" anchor="ctr"/>
          <a:lstStyle/>
          <a:p>
            <a:pPr marL="0" indent="0">
              <a:buNone/>
            </a:pPr>
            <a:r>
              <a:rPr lang="en-US" sz="1400" dirty="0">
                <a:solidFill>
                  <a:srgbClr val="777777"/>
                </a:solidFill>
                <a:latin typeface="Calibri" pitchFamily="34" charset="0"/>
                <a:ea typeface="Calibri" pitchFamily="34" charset="-122"/>
                <a:cs typeface="Calibri" pitchFamily="34" charset="-120"/>
              </a:rPr>
              <a:t>Taylor Sparks</a:t>
            </a:r>
            <a:endParaRPr lang="en-US" sz="1400" dirty="0"/>
          </a:p>
          <a:p>
            <a:pPr marL="0" indent="0">
              <a:buNone/>
            </a:pPr>
            <a:r>
              <a:rPr lang="en-US" sz="1400" dirty="0">
                <a:solidFill>
                  <a:srgbClr val="777777"/>
                </a:solidFill>
                <a:latin typeface="Calibri" pitchFamily="34" charset="0"/>
                <a:ea typeface="Calibri" pitchFamily="34" charset="-122"/>
                <a:cs typeface="Calibri" pitchFamily="34" charset="-120"/>
              </a:rPr>
              <a:t>Professor of Materials Science &amp; Engineering, University of Utah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Download the software and tutorial materials now, the files are large</a:t>
            </a:r>
            <a:endParaRPr lang="en-US" sz="2400" dirty="0"/>
          </a:p>
        </p:txBody>
      </p:sp>
      <p:pic>
        <p:nvPicPr>
          <p:cNvPr id="4" name="Image 0" descr="media_export/image3.png"/>
          <p:cNvPicPr>
            <a:picLocks noChangeAspect="1"/>
          </p:cNvPicPr>
          <p:nvPr/>
        </p:nvPicPr>
        <p:blipFill>
          <a:blip r:embed="rId3"/>
          <a:stretch>
            <a:fillRect/>
          </a:stretch>
        </p:blipFill>
        <p:spPr>
          <a:xfrm>
            <a:off x="1501268" y="1371600"/>
            <a:ext cx="3764023" cy="3840480"/>
          </a:xfrm>
          <a:prstGeom prst="rect">
            <a:avLst/>
          </a:prstGeom>
        </p:spPr>
      </p:pic>
      <p:pic>
        <p:nvPicPr>
          <p:cNvPr id="5" name="Image 1" descr="media_export/image4.png"/>
          <p:cNvPicPr>
            <a:picLocks noChangeAspect="1"/>
          </p:cNvPicPr>
          <p:nvPr/>
        </p:nvPicPr>
        <p:blipFill>
          <a:blip r:embed="rId4"/>
          <a:stretch>
            <a:fillRect/>
          </a:stretch>
        </p:blipFill>
        <p:spPr>
          <a:xfrm>
            <a:off x="6875590" y="1371600"/>
            <a:ext cx="3805300" cy="3840480"/>
          </a:xfrm>
          <a:prstGeom prst="rect">
            <a:avLst/>
          </a:prstGeom>
        </p:spPr>
      </p:pic>
      <p:sp>
        <p:nvSpPr>
          <p:cNvPr id="6" name="Text 2"/>
          <p:cNvSpPr txBox="1"/>
          <p:nvPr/>
        </p:nvSpPr>
        <p:spPr>
          <a:xfrm>
            <a:off x="1280160" y="5394960"/>
            <a:ext cx="4206240" cy="822960"/>
          </a:xfrm>
          <a:prstGeom prst="rect">
            <a:avLst/>
          </a:prstGeom>
          <a:noFill/>
          <a:ln/>
        </p:spPr>
        <p:txBody>
          <a:bodyPr wrap="square" rtlCol="0" anchor="ctr"/>
          <a:lstStyle/>
          <a:p>
            <a:pPr marL="0" indent="0" algn="ctr">
              <a:buNone/>
            </a:pPr>
            <a:r>
              <a:rPr lang="en-US" sz="1500" dirty="0">
                <a:solidFill>
                  <a:srgbClr val="333333"/>
                </a:solidFill>
                <a:latin typeface="Calibri" pitchFamily="34" charset="0"/>
                <a:ea typeface="Calibri" pitchFamily="34" charset="-122"/>
                <a:cs typeface="Calibri" pitchFamily="34" charset="-120"/>
              </a:rPr>
              <a:t>GSAS-II software</a:t>
            </a:r>
            <a:endParaRPr lang="en-US" sz="1500" dirty="0"/>
          </a:p>
          <a:p>
            <a:pPr marL="0" indent="0" algn="ctr">
              <a:buNone/>
            </a:pPr>
            <a:r>
              <a:rPr lang="en-US" sz="1500" dirty="0">
                <a:solidFill>
                  <a:srgbClr val="333333"/>
                </a:solidFill>
                <a:latin typeface="Calibri" pitchFamily="34" charset="0"/>
                <a:ea typeface="Calibri" pitchFamily="34" charset="-122"/>
                <a:cs typeface="Calibri" pitchFamily="34" charset="-120"/>
              </a:rPr>
              <a:t>~400 MB download, 2 GB installed</a:t>
            </a:r>
            <a:endParaRPr lang="en-US" sz="1500" dirty="0"/>
          </a:p>
        </p:txBody>
      </p:sp>
      <p:sp>
        <p:nvSpPr>
          <p:cNvPr id="7" name="Text 3"/>
          <p:cNvSpPr txBox="1"/>
          <p:nvPr/>
        </p:nvSpPr>
        <p:spPr>
          <a:xfrm>
            <a:off x="6675120" y="5394960"/>
            <a:ext cx="4206240" cy="822960"/>
          </a:xfrm>
          <a:prstGeom prst="rect">
            <a:avLst/>
          </a:prstGeom>
          <a:noFill/>
          <a:ln/>
        </p:spPr>
        <p:txBody>
          <a:bodyPr wrap="square" rtlCol="0" anchor="ctr"/>
          <a:lstStyle/>
          <a:p>
            <a:pPr marL="0" indent="0" algn="ctr">
              <a:buNone/>
            </a:pPr>
            <a:r>
              <a:rPr lang="en-US" sz="1500" dirty="0">
                <a:solidFill>
                  <a:srgbClr val="333333"/>
                </a:solidFill>
                <a:latin typeface="Calibri" pitchFamily="34" charset="0"/>
                <a:ea typeface="Calibri" pitchFamily="34" charset="-122"/>
                <a:cs typeface="Calibri" pitchFamily="34" charset="-120"/>
              </a:rPr>
              <a:t>Workshop tutorial materials</a:t>
            </a:r>
            <a:endParaRPr lang="en-US" sz="1500" dirty="0"/>
          </a:p>
          <a:p>
            <a:pPr marL="0" indent="0" algn="ctr">
              <a:buNone/>
            </a:pPr>
            <a:r>
              <a:rPr lang="en-US" sz="1500" dirty="0">
                <a:solidFill>
                  <a:srgbClr val="333333"/>
                </a:solidFill>
                <a:latin typeface="Calibri" pitchFamily="34" charset="0"/>
                <a:ea typeface="Calibri" pitchFamily="34" charset="-122"/>
                <a:cs typeface="Calibri" pitchFamily="34" charset="-120"/>
              </a:rPr>
              <a:t>~30 MB</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One technique answers many quantitative questions</a:t>
            </a:r>
            <a:endParaRPr lang="en-US" sz="2400" dirty="0"/>
          </a:p>
        </p:txBody>
      </p:sp>
      <p:sp>
        <p:nvSpPr>
          <p:cNvPr id="4" name="Text 2"/>
          <p:cNvSpPr txBox="1"/>
          <p:nvPr/>
        </p:nvSpPr>
        <p:spPr>
          <a:xfrm>
            <a:off x="731520" y="1371600"/>
            <a:ext cx="6400800" cy="4937760"/>
          </a:xfrm>
          <a:prstGeom prst="rect">
            <a:avLst/>
          </a:prstGeom>
          <a:noFill/>
          <a:ln/>
        </p:spPr>
        <p:txBody>
          <a:bodyPr wrap="square" rtlCol="0" anchor="t"/>
          <a:lstStyle/>
          <a:p>
            <a:pPr marL="152400" indent="-152400" algn="l">
              <a:spcAft>
                <a:spcPts val="1000"/>
              </a:spcAft>
              <a:buSzPct val="100000"/>
              <a:buChar char="•"/>
            </a:pPr>
            <a:r>
              <a:rPr lang="en-US" sz="1900" dirty="0">
                <a:solidFill>
                  <a:srgbClr val="333333"/>
                </a:solidFill>
                <a:latin typeface="Calibri" pitchFamily="34" charset="0"/>
                <a:ea typeface="Calibri" pitchFamily="34" charset="-122"/>
                <a:cs typeface="Calibri" pitchFamily="34" charset="-120"/>
              </a:rPr>
              <a:t>What is Rietveld refinement and how does it work?</a:t>
            </a:r>
            <a:endParaRPr lang="en-US" sz="1900" dirty="0"/>
          </a:p>
          <a:p>
            <a:pPr marL="152400" indent="-152400" algn="l">
              <a:spcAft>
                <a:spcPts val="1000"/>
              </a:spcAft>
              <a:buSzPct val="100000"/>
              <a:buChar char="•"/>
            </a:pPr>
            <a:r>
              <a:rPr lang="en-US" sz="1900" dirty="0">
                <a:solidFill>
                  <a:srgbClr val="333333"/>
                </a:solidFill>
                <a:latin typeface="Calibri" pitchFamily="34" charset="0"/>
                <a:ea typeface="Calibri" pitchFamily="34" charset="-122"/>
                <a:cs typeface="Calibri" pitchFamily="34" charset="-120"/>
              </a:rPr>
              <a:t>Quantitative analysis of multiphase mixtures</a:t>
            </a:r>
            <a:endParaRPr lang="en-US" sz="1900" dirty="0"/>
          </a:p>
          <a:p>
            <a:pPr marL="304800" lvl="1" indent="-152400" algn="l">
              <a:spcAft>
                <a:spcPts val="1000"/>
              </a:spcAft>
              <a:buSzPct val="100000"/>
              <a:buChar char="•"/>
            </a:pPr>
            <a:r>
              <a:rPr lang="en-US" sz="1900" dirty="0">
                <a:solidFill>
                  <a:srgbClr val="333333"/>
                </a:solidFill>
                <a:latin typeface="Calibri" pitchFamily="34" charset="0"/>
                <a:ea typeface="Calibri" pitchFamily="34" charset="-122"/>
                <a:cs typeface="Calibri" pitchFamily="34" charset="-120"/>
              </a:rPr>
              <a:t>Amorphous content</a:t>
            </a:r>
            <a:endParaRPr lang="en-US" sz="1900" dirty="0"/>
          </a:p>
          <a:p>
            <a:pPr marL="152400" indent="-152400" algn="l">
              <a:spcAft>
                <a:spcPts val="1000"/>
              </a:spcAft>
              <a:buSzPct val="100000"/>
              <a:buChar char="•"/>
            </a:pPr>
            <a:r>
              <a:rPr lang="en-US" sz="1900" dirty="0">
                <a:solidFill>
                  <a:srgbClr val="333333"/>
                </a:solidFill>
                <a:latin typeface="Calibri" pitchFamily="34" charset="0"/>
                <a:ea typeface="Calibri" pitchFamily="34" charset="-122"/>
                <a:cs typeface="Calibri" pitchFamily="34" charset="-120"/>
              </a:rPr>
              <a:t>Atomic positions and site occupancy</a:t>
            </a:r>
            <a:endParaRPr lang="en-US" sz="1900" dirty="0"/>
          </a:p>
          <a:p>
            <a:pPr marL="152400" indent="-152400" algn="l">
              <a:spcAft>
                <a:spcPts val="1000"/>
              </a:spcAft>
              <a:buSzPct val="100000"/>
              <a:buChar char="•"/>
            </a:pPr>
            <a:r>
              <a:rPr lang="en-US" sz="1900" dirty="0">
                <a:solidFill>
                  <a:srgbClr val="333333"/>
                </a:solidFill>
                <a:latin typeface="Calibri" pitchFamily="34" charset="0"/>
                <a:ea typeface="Calibri" pitchFamily="34" charset="-122"/>
                <a:cs typeface="Calibri" pitchFamily="34" charset="-120"/>
              </a:rPr>
              <a:t>Thermal displacement parameters</a:t>
            </a:r>
            <a:endParaRPr lang="en-US" sz="1900" dirty="0"/>
          </a:p>
          <a:p>
            <a:pPr marL="152400" indent="-152400" algn="l">
              <a:spcAft>
                <a:spcPts val="1000"/>
              </a:spcAft>
              <a:buSzPct val="100000"/>
              <a:buChar char="•"/>
            </a:pPr>
            <a:r>
              <a:rPr lang="en-US" sz="1900" dirty="0">
                <a:solidFill>
                  <a:srgbClr val="333333"/>
                </a:solidFill>
                <a:latin typeface="Calibri" pitchFamily="34" charset="0"/>
                <a:ea typeface="Calibri" pitchFamily="34" charset="-122"/>
                <a:cs typeface="Calibri" pitchFamily="34" charset="-120"/>
              </a:rPr>
              <a:t>Preferred orientation</a:t>
            </a:r>
            <a:endParaRPr lang="en-US" sz="1900" dirty="0"/>
          </a:p>
          <a:p>
            <a:pPr marL="152400" indent="-152400" algn="l">
              <a:spcAft>
                <a:spcPts val="1000"/>
              </a:spcAft>
              <a:buSzPct val="100000"/>
              <a:buChar char="•"/>
            </a:pPr>
            <a:r>
              <a:rPr lang="en-US" sz="1900" dirty="0">
                <a:solidFill>
                  <a:srgbClr val="333333"/>
                </a:solidFill>
                <a:latin typeface="Calibri" pitchFamily="34" charset="0"/>
                <a:ea typeface="Calibri" pitchFamily="34" charset="-122"/>
                <a:cs typeface="Calibri" pitchFamily="34" charset="-120"/>
              </a:rPr>
              <a:t>Crystallite size and strain</a:t>
            </a:r>
            <a:endParaRPr lang="en-US" sz="1900" dirty="0"/>
          </a:p>
        </p:txBody>
      </p:sp>
      <p:pic>
        <p:nvPicPr>
          <p:cNvPr id="5" name="Image 0" descr="figs/fig_ekg.png"/>
          <p:cNvPicPr>
            <a:picLocks noChangeAspect="1"/>
          </p:cNvPicPr>
          <p:nvPr/>
        </p:nvPicPr>
        <p:blipFill>
          <a:blip r:embed="rId3"/>
          <a:stretch>
            <a:fillRect/>
          </a:stretch>
        </p:blipFill>
        <p:spPr>
          <a:xfrm>
            <a:off x="7315200" y="2215780"/>
            <a:ext cx="4480560" cy="30665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Rietveld refinement least-squares fits a calculated pattern to your data</a:t>
            </a:r>
            <a:endParaRPr lang="en-US" sz="2400" dirty="0"/>
          </a:p>
        </p:txBody>
      </p:sp>
      <p:sp>
        <p:nvSpPr>
          <p:cNvPr id="4" name="Text 2"/>
          <p:cNvSpPr txBox="1"/>
          <p:nvPr/>
        </p:nvSpPr>
        <p:spPr>
          <a:xfrm>
            <a:off x="640080" y="1371600"/>
            <a:ext cx="6949440" cy="4754880"/>
          </a:xfrm>
          <a:prstGeom prst="rect">
            <a:avLst/>
          </a:prstGeom>
          <a:noFill/>
          <a:ln/>
        </p:spPr>
        <p:txBody>
          <a:bodyPr wrap="square" rtlCol="0" anchor="t"/>
          <a:lstStyle/>
          <a:p>
            <a:pPr marL="152400" indent="-152400" algn="l">
              <a:spcAft>
                <a:spcPts val="1000"/>
              </a:spcAft>
              <a:buSzPct val="100000"/>
              <a:buChar char="•"/>
            </a:pPr>
            <a:r>
              <a:rPr lang="en-US" sz="1700" b="1" dirty="0">
                <a:solidFill>
                  <a:srgbClr val="333333"/>
                </a:solidFill>
                <a:latin typeface="Calibri" pitchFamily="34" charset="0"/>
                <a:ea typeface="Calibri" pitchFamily="34" charset="-122"/>
                <a:cs typeface="Calibri" pitchFamily="34" charset="-120"/>
              </a:rPr>
              <a:t>Hugo Rietveld (1969)</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Calculated pattern vs measured pattern</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Variable model parameters, adjusted by least squares</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Accounts for measurement errors (shift, zero offset)</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Different from Le Bail or Pawley (profile) fitting: those fit intensities without a structure</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Ab initio structure determination is a separate, harder problem</a:t>
            </a:r>
            <a:endParaRPr lang="en-US" sz="1700" dirty="0"/>
          </a:p>
        </p:txBody>
      </p:sp>
      <p:pic>
        <p:nvPicPr>
          <p:cNvPr id="5" name="Image 0" descr="media_export/image7.png"/>
          <p:cNvPicPr>
            <a:picLocks noChangeAspect="1"/>
          </p:cNvPicPr>
          <p:nvPr/>
        </p:nvPicPr>
        <p:blipFill>
          <a:blip r:embed="rId3"/>
          <a:stretch>
            <a:fillRect/>
          </a:stretch>
        </p:blipFill>
        <p:spPr>
          <a:xfrm>
            <a:off x="8078548" y="1280160"/>
            <a:ext cx="3411064" cy="4846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GSAS-II and PowDLL cover the whole workflow for free</a:t>
            </a:r>
            <a:endParaRPr lang="en-US" sz="2400" dirty="0"/>
          </a:p>
        </p:txBody>
      </p:sp>
      <p:pic>
        <p:nvPicPr>
          <p:cNvPr id="4" name="Image 0" descr="media_export/image5.png"/>
          <p:cNvPicPr>
            <a:picLocks noChangeAspect="1"/>
          </p:cNvPicPr>
          <p:nvPr/>
        </p:nvPicPr>
        <p:blipFill>
          <a:blip r:embed="rId3"/>
          <a:stretch>
            <a:fillRect/>
          </a:stretch>
        </p:blipFill>
        <p:spPr>
          <a:xfrm>
            <a:off x="548640" y="1549750"/>
            <a:ext cx="5486400" cy="4398579"/>
          </a:xfrm>
          <a:prstGeom prst="rect">
            <a:avLst/>
          </a:prstGeom>
        </p:spPr>
      </p:pic>
      <p:pic>
        <p:nvPicPr>
          <p:cNvPr id="5" name="Image 1" descr="media_export/image6.png"/>
          <p:cNvPicPr>
            <a:picLocks noChangeAspect="1"/>
          </p:cNvPicPr>
          <p:nvPr/>
        </p:nvPicPr>
        <p:blipFill>
          <a:blip r:embed="rId4"/>
          <a:stretch>
            <a:fillRect/>
          </a:stretch>
        </p:blipFill>
        <p:spPr>
          <a:xfrm>
            <a:off x="6309360" y="1347738"/>
            <a:ext cx="5486400" cy="48026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Modern software simulates powder patterns remarkably well</a:t>
            </a:r>
            <a:endParaRPr lang="en-US" sz="2400" dirty="0"/>
          </a:p>
        </p:txBody>
      </p:sp>
      <p:pic>
        <p:nvPicPr>
          <p:cNvPr id="4" name="Image 0" descr="media_export/image8.jpeg"/>
          <p:cNvPicPr>
            <a:picLocks noChangeAspect="1"/>
          </p:cNvPicPr>
          <p:nvPr/>
        </p:nvPicPr>
        <p:blipFill>
          <a:blip r:embed="rId3"/>
          <a:stretch>
            <a:fillRect/>
          </a:stretch>
        </p:blipFill>
        <p:spPr>
          <a:xfrm>
            <a:off x="1940743" y="1097280"/>
            <a:ext cx="8280035" cy="5394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Peak intensity folds in source, sample, and structure factors</a:t>
            </a:r>
            <a:endParaRPr lang="en-US" sz="2400" dirty="0"/>
          </a:p>
        </p:txBody>
      </p:sp>
      <p:pic>
        <p:nvPicPr>
          <p:cNvPr id="4" name="Image 0" descr="media_export/image9.png"/>
          <p:cNvPicPr>
            <a:picLocks noChangeAspect="1"/>
          </p:cNvPicPr>
          <p:nvPr/>
        </p:nvPicPr>
        <p:blipFill>
          <a:blip r:embed="rId3"/>
          <a:stretch>
            <a:fillRect/>
          </a:stretch>
        </p:blipFill>
        <p:spPr>
          <a:xfrm>
            <a:off x="593090" y="2878068"/>
            <a:ext cx="5577840" cy="1072140"/>
          </a:xfrm>
          <a:prstGeom prst="rect">
            <a:avLst/>
          </a:prstGeom>
        </p:spPr>
      </p:pic>
      <p:pic>
        <p:nvPicPr>
          <p:cNvPr id="5" name="Image 1" descr="media_export/image10.png"/>
          <p:cNvPicPr>
            <a:picLocks noChangeAspect="1"/>
          </p:cNvPicPr>
          <p:nvPr/>
        </p:nvPicPr>
        <p:blipFill>
          <a:blip r:embed="rId4"/>
          <a:stretch>
            <a:fillRect/>
          </a:stretch>
        </p:blipFill>
        <p:spPr>
          <a:xfrm>
            <a:off x="548640" y="4627614"/>
            <a:ext cx="5577840" cy="1168932"/>
          </a:xfrm>
          <a:prstGeom prst="rect">
            <a:avLst/>
          </a:prstGeom>
        </p:spPr>
      </p:pic>
      <p:pic>
        <p:nvPicPr>
          <p:cNvPr id="6" name="Image 2" descr="media_export/image11.png"/>
          <p:cNvPicPr>
            <a:picLocks noChangeAspect="1"/>
          </p:cNvPicPr>
          <p:nvPr/>
        </p:nvPicPr>
        <p:blipFill>
          <a:blip r:embed="rId5"/>
          <a:stretch>
            <a:fillRect/>
          </a:stretch>
        </p:blipFill>
        <p:spPr>
          <a:xfrm>
            <a:off x="593090" y="1161808"/>
            <a:ext cx="7852410" cy="1160715"/>
          </a:xfrm>
          <a:prstGeom prst="rect">
            <a:avLst/>
          </a:prstGeom>
        </p:spPr>
      </p:pic>
      <p:pic>
        <p:nvPicPr>
          <p:cNvPr id="7" name="Image 3" descr="media_export/image12.png"/>
          <p:cNvPicPr>
            <a:picLocks noChangeAspect="1"/>
          </p:cNvPicPr>
          <p:nvPr/>
        </p:nvPicPr>
        <p:blipFill>
          <a:blip r:embed="rId6"/>
          <a:stretch>
            <a:fillRect/>
          </a:stretch>
        </p:blipFill>
        <p:spPr>
          <a:xfrm>
            <a:off x="7536353" y="2322523"/>
            <a:ext cx="4192291" cy="4295140"/>
          </a:xfrm>
          <a:prstGeom prst="rect">
            <a:avLst/>
          </a:prstGeom>
        </p:spPr>
      </p:pic>
      <p:sp>
        <p:nvSpPr>
          <p:cNvPr id="8"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James R. Connolly, EPS400-001, Introduction to X-Ray Powder Diffraction, 2010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Radiation choice sets the anomalous scattering factors f' and f''</a:t>
            </a:r>
            <a:endParaRPr lang="en-US" sz="2400" dirty="0"/>
          </a:p>
        </p:txBody>
      </p:sp>
      <p:pic>
        <p:nvPicPr>
          <p:cNvPr id="4" name="Image 0" descr="media_export/image13.png"/>
          <p:cNvPicPr>
            <a:picLocks noChangeAspect="1"/>
          </p:cNvPicPr>
          <p:nvPr/>
        </p:nvPicPr>
        <p:blipFill>
          <a:blip r:embed="rId3"/>
          <a:srcRect l="14640" t="23333" r="38229" b="21840"/>
          <a:stretch>
            <a:fillRect/>
          </a:stretch>
        </p:blipFill>
        <p:spPr>
          <a:xfrm>
            <a:off x="260350" y="1517649"/>
            <a:ext cx="5835650" cy="4242830"/>
          </a:xfrm>
          <a:prstGeom prst="rect">
            <a:avLst/>
          </a:prstGeom>
        </p:spPr>
      </p:pic>
      <p:pic>
        <p:nvPicPr>
          <p:cNvPr id="5" name="Image 1" descr="media_export/image14.png"/>
          <p:cNvPicPr>
            <a:picLocks noChangeAspect="1"/>
          </p:cNvPicPr>
          <p:nvPr/>
        </p:nvPicPr>
        <p:blipFill>
          <a:blip r:embed="rId4"/>
          <a:srcRect l="25205" t="24062" r="28689" b="22022"/>
          <a:stretch>
            <a:fillRect/>
          </a:stretch>
        </p:blipFill>
        <p:spPr>
          <a:xfrm>
            <a:off x="6375400" y="1549399"/>
            <a:ext cx="5759450" cy="42093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The instrument dictates Gaussian vs Lorentzian peak character</a:t>
            </a:r>
            <a:endParaRPr lang="en-US" sz="2400" dirty="0"/>
          </a:p>
        </p:txBody>
      </p:sp>
      <p:pic>
        <p:nvPicPr>
          <p:cNvPr id="4" name="Image 0" descr="media_export/image15.png"/>
          <p:cNvPicPr>
            <a:picLocks noChangeAspect="1"/>
          </p:cNvPicPr>
          <p:nvPr/>
        </p:nvPicPr>
        <p:blipFill>
          <a:blip r:embed="rId3"/>
          <a:stretch>
            <a:fillRect/>
          </a:stretch>
        </p:blipFill>
        <p:spPr>
          <a:xfrm>
            <a:off x="548640" y="2051746"/>
            <a:ext cx="5577840" cy="3211708"/>
          </a:xfrm>
          <a:prstGeom prst="rect">
            <a:avLst/>
          </a:prstGeom>
        </p:spPr>
      </p:pic>
      <p:pic>
        <p:nvPicPr>
          <p:cNvPr id="5" name="Image 1" descr="media_export/image16.png"/>
          <p:cNvPicPr>
            <a:picLocks noChangeAspect="1"/>
          </p:cNvPicPr>
          <p:nvPr/>
        </p:nvPicPr>
        <p:blipFill>
          <a:blip r:embed="rId4"/>
          <a:stretch>
            <a:fillRect/>
          </a:stretch>
        </p:blipFill>
        <p:spPr>
          <a:xfrm>
            <a:off x="6309360" y="3177182"/>
            <a:ext cx="5577840" cy="960836"/>
          </a:xfrm>
          <a:prstGeom prst="rect">
            <a:avLst/>
          </a:prstGeom>
        </p:spPr>
      </p:pic>
      <p:sp>
        <p:nvSpPr>
          <p:cNvPr id="6"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prism.mit.edu/xray/Rietveld_XRDSimulation.pdf</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Every parameter changes the pattern in one of three ways</a:t>
            </a:r>
            <a:endParaRPr lang="en-US" sz="2400" dirty="0"/>
          </a:p>
        </p:txBody>
      </p:sp>
      <p:sp>
        <p:nvSpPr>
          <p:cNvPr id="4" name="Shape 2"/>
          <p:cNvSpPr/>
          <p:nvPr/>
        </p:nvSpPr>
        <p:spPr>
          <a:xfrm>
            <a:off x="640080" y="1234440"/>
            <a:ext cx="3566160" cy="4206240"/>
          </a:xfrm>
          <a:prstGeom prst="roundRect">
            <a:avLst>
              <a:gd name="adj" fmla="val 2051"/>
            </a:avLst>
          </a:prstGeom>
          <a:solidFill>
            <a:srgbClr val="F7F7F7"/>
          </a:solidFill>
          <a:ln w="25400">
            <a:solidFill>
              <a:srgbClr val="1A2744"/>
            </a:solidFill>
            <a:prstDash val="solid"/>
          </a:ln>
        </p:spPr>
        <p:txBody>
          <a:bodyPr/>
          <a:lstStyle/>
          <a:p>
            <a:endParaRPr lang="en-US"/>
          </a:p>
        </p:txBody>
      </p:sp>
      <p:sp>
        <p:nvSpPr>
          <p:cNvPr id="5" name="Text 3"/>
          <p:cNvSpPr txBox="1"/>
          <p:nvPr/>
        </p:nvSpPr>
        <p:spPr>
          <a:xfrm>
            <a:off x="822960" y="1417320"/>
            <a:ext cx="3200400" cy="3840480"/>
          </a:xfrm>
          <a:prstGeom prst="rect">
            <a:avLst/>
          </a:prstGeom>
          <a:noFill/>
          <a:ln/>
        </p:spPr>
        <p:txBody>
          <a:bodyPr wrap="square" lIns="0" tIns="0" rIns="0" bIns="0" rtlCol="0" anchor="t"/>
          <a:lstStyle/>
          <a:p>
            <a:pPr marL="0" indent="0">
              <a:spcAft>
                <a:spcPts val="900"/>
              </a:spcAft>
              <a:buNone/>
            </a:pPr>
            <a:r>
              <a:rPr lang="en-US" sz="1800" b="1" dirty="0">
                <a:solidFill>
                  <a:srgbClr val="1A2744"/>
                </a:solidFill>
                <a:latin typeface="Calibri" pitchFamily="34" charset="0"/>
                <a:ea typeface="Calibri" pitchFamily="34" charset="-122"/>
                <a:cs typeface="Calibri" pitchFamily="34" charset="-120"/>
              </a:rPr>
              <a:t>WHERE peaks sit</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Lattice parameters (a, b, c, angles)</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Zero offset</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Sample displacement</a:t>
            </a:r>
            <a:endParaRPr lang="en-US" sz="1800" dirty="0"/>
          </a:p>
        </p:txBody>
      </p:sp>
      <p:sp>
        <p:nvSpPr>
          <p:cNvPr id="6" name="Shape 4"/>
          <p:cNvSpPr/>
          <p:nvPr/>
        </p:nvSpPr>
        <p:spPr>
          <a:xfrm>
            <a:off x="4434840" y="1234440"/>
            <a:ext cx="3566160" cy="4206240"/>
          </a:xfrm>
          <a:prstGeom prst="roundRect">
            <a:avLst>
              <a:gd name="adj" fmla="val 2051"/>
            </a:avLst>
          </a:prstGeom>
          <a:solidFill>
            <a:srgbClr val="F7F7F7"/>
          </a:solidFill>
          <a:ln w="25400">
            <a:solidFill>
              <a:srgbClr val="1E6542"/>
            </a:solidFill>
            <a:prstDash val="solid"/>
          </a:ln>
        </p:spPr>
        <p:txBody>
          <a:bodyPr/>
          <a:lstStyle/>
          <a:p>
            <a:endParaRPr lang="en-US"/>
          </a:p>
        </p:txBody>
      </p:sp>
      <p:sp>
        <p:nvSpPr>
          <p:cNvPr id="7" name="Text 5"/>
          <p:cNvSpPr txBox="1"/>
          <p:nvPr/>
        </p:nvSpPr>
        <p:spPr>
          <a:xfrm>
            <a:off x="4617720" y="1417320"/>
            <a:ext cx="3200400" cy="3840480"/>
          </a:xfrm>
          <a:prstGeom prst="rect">
            <a:avLst/>
          </a:prstGeom>
          <a:noFill/>
          <a:ln/>
        </p:spPr>
        <p:txBody>
          <a:bodyPr wrap="square" lIns="0" tIns="0" rIns="0" bIns="0" rtlCol="0" anchor="t"/>
          <a:lstStyle/>
          <a:p>
            <a:pPr marL="0" indent="0">
              <a:spcAft>
                <a:spcPts val="900"/>
              </a:spcAft>
              <a:buNone/>
            </a:pPr>
            <a:r>
              <a:rPr lang="en-US" sz="1800" b="1" dirty="0">
                <a:solidFill>
                  <a:srgbClr val="1E6542"/>
                </a:solidFill>
                <a:latin typeface="Calibri" pitchFamily="34" charset="0"/>
                <a:ea typeface="Calibri" pitchFamily="34" charset="-122"/>
                <a:cs typeface="Calibri" pitchFamily="34" charset="-120"/>
              </a:rPr>
              <a:t>WHAT SHAPE they have</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Gaussian widths: U, V, W</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Lorentzian widths: X, Y</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Asymmetry (axial divergence)</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Size and strain broadening</a:t>
            </a:r>
            <a:endParaRPr lang="en-US" sz="1800" dirty="0"/>
          </a:p>
        </p:txBody>
      </p:sp>
      <p:sp>
        <p:nvSpPr>
          <p:cNvPr id="8" name="Shape 6"/>
          <p:cNvSpPr/>
          <p:nvPr/>
        </p:nvSpPr>
        <p:spPr>
          <a:xfrm>
            <a:off x="8229600" y="1234440"/>
            <a:ext cx="3566160" cy="4206240"/>
          </a:xfrm>
          <a:prstGeom prst="roundRect">
            <a:avLst>
              <a:gd name="adj" fmla="val 2051"/>
            </a:avLst>
          </a:prstGeom>
          <a:solidFill>
            <a:srgbClr val="F7F7F7"/>
          </a:solidFill>
          <a:ln w="25400">
            <a:solidFill>
              <a:srgbClr val="A05F74"/>
            </a:solidFill>
            <a:prstDash val="solid"/>
          </a:ln>
        </p:spPr>
        <p:txBody>
          <a:bodyPr/>
          <a:lstStyle/>
          <a:p>
            <a:endParaRPr lang="en-US"/>
          </a:p>
        </p:txBody>
      </p:sp>
      <p:sp>
        <p:nvSpPr>
          <p:cNvPr id="9" name="Text 7"/>
          <p:cNvSpPr txBox="1"/>
          <p:nvPr/>
        </p:nvSpPr>
        <p:spPr>
          <a:xfrm>
            <a:off x="8412480" y="1417320"/>
            <a:ext cx="3200400" cy="3840480"/>
          </a:xfrm>
          <a:prstGeom prst="rect">
            <a:avLst/>
          </a:prstGeom>
          <a:noFill/>
          <a:ln/>
        </p:spPr>
        <p:txBody>
          <a:bodyPr wrap="square" lIns="0" tIns="0" rIns="0" bIns="0" rtlCol="0" anchor="t"/>
          <a:lstStyle/>
          <a:p>
            <a:pPr marL="0" indent="0">
              <a:spcAft>
                <a:spcPts val="900"/>
              </a:spcAft>
              <a:buNone/>
            </a:pPr>
            <a:r>
              <a:rPr lang="en-US" sz="1800" b="1" dirty="0">
                <a:solidFill>
                  <a:srgbClr val="A05F74"/>
                </a:solidFill>
                <a:latin typeface="Calibri" pitchFamily="34" charset="0"/>
                <a:ea typeface="Calibri" pitchFamily="34" charset="-122"/>
                <a:cs typeface="Calibri" pitchFamily="34" charset="-120"/>
              </a:rPr>
              <a:t>HOW TALL they are</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Scale factor(s)</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Atomic positions (x, y, z)</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Site occupancies</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Thermal parameters (Uiso, Uij)</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Preferred orientation</a:t>
            </a:r>
            <a:endParaRPr lang="en-US" sz="1800" dirty="0"/>
          </a:p>
          <a:p>
            <a:pPr marL="0" indent="0">
              <a:spcAft>
                <a:spcPts val="900"/>
              </a:spcAft>
              <a:buNone/>
            </a:pPr>
            <a:r>
              <a:rPr lang="en-US" sz="1500" dirty="0">
                <a:solidFill>
                  <a:srgbClr val="333333"/>
                </a:solidFill>
                <a:latin typeface="Calibri" pitchFamily="34" charset="0"/>
                <a:ea typeface="Calibri" pitchFamily="34" charset="-122"/>
                <a:cs typeface="Calibri" pitchFamily="34" charset="-120"/>
              </a:rPr>
              <a:t>Absorption, roughness</a:t>
            </a:r>
            <a:endParaRPr lang="en-US" sz="1800" dirty="0"/>
          </a:p>
        </p:txBody>
      </p:sp>
      <p:sp>
        <p:nvSpPr>
          <p:cNvPr id="10" name="Text 8"/>
          <p:cNvSpPr txBox="1"/>
          <p:nvPr/>
        </p:nvSpPr>
        <p:spPr>
          <a:xfrm>
            <a:off x="640080" y="5760720"/>
            <a:ext cx="10972800" cy="731520"/>
          </a:xfrm>
          <a:prstGeom prst="rect">
            <a:avLst/>
          </a:prstGeom>
          <a:noFill/>
          <a:ln/>
        </p:spPr>
        <p:txBody>
          <a:bodyPr wrap="square" lIns="0" tIns="0" rIns="0" bIns="0" rtlCol="0" anchor="ctr"/>
          <a:lstStyle/>
          <a:p>
            <a:pPr marL="0" indent="0">
              <a:buNone/>
            </a:pPr>
            <a:r>
              <a:rPr lang="en-US" sz="1600" b="1" dirty="0">
                <a:solidFill>
                  <a:srgbClr val="333333"/>
                </a:solidFill>
                <a:latin typeface="Calibri" pitchFamily="34" charset="0"/>
                <a:ea typeface="Calibri" pitchFamily="34" charset="-122"/>
                <a:cs typeface="Calibri" pitchFamily="34" charset="-120"/>
              </a:rPr>
              <a:t>Diagnosis strategy: when the fit is bad, ask which bucket is wrong. Each bucket leaves a different fingerprint in the difference curve.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Peak positions must match before anything else can refine</a:t>
            </a:r>
            <a:endParaRPr lang="en-US" sz="2400" dirty="0"/>
          </a:p>
        </p:txBody>
      </p:sp>
      <p:sp>
        <p:nvSpPr>
          <p:cNvPr id="4" name="Text 2"/>
          <p:cNvSpPr txBox="1"/>
          <p:nvPr/>
        </p:nvSpPr>
        <p:spPr>
          <a:xfrm>
            <a:off x="640080" y="2076152"/>
            <a:ext cx="4846320" cy="4050327"/>
          </a:xfrm>
          <a:prstGeom prst="rect">
            <a:avLst/>
          </a:prstGeom>
          <a:noFill/>
          <a:ln/>
        </p:spPr>
        <p:txBody>
          <a:bodyPr wrap="square" rtlCol="0" anchor="t"/>
          <a:lstStyle/>
          <a:p>
            <a:pPr marL="152400" indent="-152400" algn="l">
              <a:spcAft>
                <a:spcPts val="1000"/>
              </a:spcAft>
              <a:buSzPct val="100000"/>
              <a:buChar char="•"/>
            </a:pPr>
            <a:r>
              <a:rPr lang="en-US" sz="1700" b="1" dirty="0">
                <a:solidFill>
                  <a:srgbClr val="333333"/>
                </a:solidFill>
                <a:latin typeface="Calibri" pitchFamily="34" charset="0"/>
                <a:ea typeface="Calibri" pitchFamily="34" charset="-122"/>
                <a:cs typeface="Calibri" pitchFamily="34" charset="-120"/>
              </a:rPr>
              <a:t>Two rival corrections:</a:t>
            </a:r>
            <a:endParaRPr lang="en-US" sz="1700" dirty="0"/>
          </a:p>
          <a:p>
            <a:pPr marL="304800" lvl="1"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Zero offset:  Δ2θ = const.</a:t>
            </a:r>
            <a:endParaRPr lang="en-US" sz="1700" dirty="0"/>
          </a:p>
          <a:p>
            <a:pPr marL="304800" lvl="1" indent="-152400" algn="l">
              <a:spcAft>
                <a:spcPts val="1000"/>
              </a:spcAft>
              <a:buSzPct val="100000"/>
              <a:buChar char="•"/>
            </a:pPr>
            <a:r>
              <a:rPr lang="en-US" sz="1700" dirty="0">
                <a:solidFill>
                  <a:srgbClr val="A05F74"/>
                </a:solidFill>
                <a:latin typeface="Calibri" pitchFamily="34" charset="0"/>
                <a:ea typeface="Calibri" pitchFamily="34" charset="-122"/>
                <a:cs typeface="Calibri" pitchFamily="34" charset="-120"/>
              </a:rPr>
              <a:t>Displacement:  Δ2θ = −2s cosθ/R</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Nearly identical at low angle, so the two are highly correlated</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Fix: internal standard (NIST Si 640) pins one of them</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If positions are off, nothing downstream can converge (McCusker et al., 1999)</a:t>
            </a:r>
            <a:endParaRPr lang="en-US" sz="1700" dirty="0"/>
          </a:p>
        </p:txBody>
      </p:sp>
      <p:pic>
        <p:nvPicPr>
          <p:cNvPr id="5" name="Image 0" descr="figs/fig_positions.png"/>
          <p:cNvPicPr>
            <a:picLocks noChangeAspect="1"/>
          </p:cNvPicPr>
          <p:nvPr/>
        </p:nvPicPr>
        <p:blipFill>
          <a:blip r:embed="rId3"/>
          <a:stretch>
            <a:fillRect/>
          </a:stretch>
        </p:blipFill>
        <p:spPr>
          <a:xfrm>
            <a:off x="5760720" y="1723876"/>
            <a:ext cx="5943600" cy="40503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Peak widths encode real microstructure through U, V, W, X, Y</a:t>
            </a:r>
            <a:endParaRPr lang="en-US" sz="2400" dirty="0"/>
          </a:p>
        </p:txBody>
      </p:sp>
      <p:sp>
        <p:nvSpPr>
          <p:cNvPr id="4" name="Text 2"/>
          <p:cNvSpPr txBox="1"/>
          <p:nvPr/>
        </p:nvSpPr>
        <p:spPr>
          <a:xfrm>
            <a:off x="640080" y="1936750"/>
            <a:ext cx="4846320" cy="4189730"/>
          </a:xfrm>
          <a:prstGeom prst="rect">
            <a:avLst/>
          </a:prstGeom>
          <a:noFill/>
          <a:ln/>
        </p:spPr>
        <p:txBody>
          <a:bodyPr wrap="square" rtlCol="0" anchor="t"/>
          <a:lstStyle/>
          <a:p>
            <a:pPr marL="152400" indent="-152400" algn="l">
              <a:spcAft>
                <a:spcPts val="1000"/>
              </a:spcAft>
              <a:buSzPct val="100000"/>
              <a:buChar char="•"/>
            </a:pPr>
            <a:r>
              <a:rPr lang="en-US" sz="1700" b="1" dirty="0">
                <a:solidFill>
                  <a:srgbClr val="333333"/>
                </a:solidFill>
                <a:latin typeface="Calibri" pitchFamily="34" charset="0"/>
                <a:ea typeface="Calibri" pitchFamily="34" charset="-122"/>
                <a:cs typeface="Calibri" pitchFamily="34" charset="-120"/>
              </a:rPr>
              <a:t>Gaussian part (Caglioti, 1958):</a:t>
            </a:r>
            <a:endParaRPr lang="en-US" sz="1700" dirty="0"/>
          </a:p>
          <a:p>
            <a:pPr marL="304800" lvl="1"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FWHM² = U tan²θ + V tanθ + W</a:t>
            </a:r>
            <a:endParaRPr lang="en-US" sz="1700" dirty="0"/>
          </a:p>
          <a:p>
            <a:pPr marL="152400" indent="-152400" algn="l">
              <a:spcAft>
                <a:spcPts val="1000"/>
              </a:spcAft>
              <a:buSzPct val="100000"/>
              <a:buChar char="•"/>
            </a:pPr>
            <a:r>
              <a:rPr lang="en-US" sz="1700" b="1" dirty="0">
                <a:solidFill>
                  <a:srgbClr val="333333"/>
                </a:solidFill>
                <a:latin typeface="Calibri" pitchFamily="34" charset="0"/>
                <a:ea typeface="Calibri" pitchFamily="34" charset="-122"/>
                <a:cs typeface="Calibri" pitchFamily="34" charset="-120"/>
              </a:rPr>
              <a:t>Lorentzian part:</a:t>
            </a:r>
            <a:endParaRPr lang="en-US" sz="1700" dirty="0"/>
          </a:p>
          <a:p>
            <a:pPr marL="304800" lvl="1"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FWHM = X tanθ + Y / cosθ</a:t>
            </a:r>
            <a:endParaRPr lang="en-US" sz="1700" dirty="0"/>
          </a:p>
          <a:p>
            <a:pPr marL="152400" indent="-152400" algn="l">
              <a:spcAft>
                <a:spcPts val="1000"/>
              </a:spcAft>
              <a:buSzPct val="100000"/>
              <a:buChar char="•"/>
            </a:pPr>
            <a:r>
              <a:rPr lang="en-US" sz="1700" dirty="0">
                <a:solidFill>
                  <a:srgbClr val="1E6542"/>
                </a:solidFill>
                <a:latin typeface="Calibri" pitchFamily="34" charset="0"/>
                <a:ea typeface="Calibri" pitchFamily="34" charset="-122"/>
                <a:cs typeface="Calibri" pitchFamily="34" charset="-120"/>
              </a:rPr>
              <a:t>X grows like strain broadening (tanθ)</a:t>
            </a:r>
            <a:endParaRPr lang="en-US" sz="1700" dirty="0"/>
          </a:p>
          <a:p>
            <a:pPr marL="152400" indent="-152400" algn="l">
              <a:spcAft>
                <a:spcPts val="1000"/>
              </a:spcAft>
              <a:buSzPct val="100000"/>
              <a:buChar char="•"/>
            </a:pPr>
            <a:r>
              <a:rPr lang="en-US" sz="1700" dirty="0">
                <a:solidFill>
                  <a:srgbClr val="A05F74"/>
                </a:solidFill>
                <a:latin typeface="Calibri" pitchFamily="34" charset="0"/>
                <a:ea typeface="Calibri" pitchFamily="34" charset="-122"/>
                <a:cs typeface="Calibri" pitchFamily="34" charset="-120"/>
              </a:rPr>
              <a:t>Y grows like size broadening (1/cosθ, Scherrer)</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Profile terms are physics, not fudge factors</a:t>
            </a:r>
            <a:endParaRPr lang="en-US" sz="1700" dirty="0"/>
          </a:p>
        </p:txBody>
      </p:sp>
      <p:pic>
        <p:nvPicPr>
          <p:cNvPr id="5" name="Image 0" descr="figs/fig_widths.png"/>
          <p:cNvPicPr>
            <a:picLocks noChangeAspect="1"/>
          </p:cNvPicPr>
          <p:nvPr/>
        </p:nvPicPr>
        <p:blipFill>
          <a:blip r:embed="rId3"/>
          <a:stretch>
            <a:fillRect/>
          </a:stretch>
        </p:blipFill>
        <p:spPr>
          <a:xfrm>
            <a:off x="5760720" y="1728216"/>
            <a:ext cx="5943600" cy="40416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Axial divergence makes low-angle peaks lean; correct it, don't absorb it</a:t>
            </a:r>
            <a:endParaRPr lang="en-US" sz="2400" dirty="0"/>
          </a:p>
        </p:txBody>
      </p:sp>
      <p:pic>
        <p:nvPicPr>
          <p:cNvPr id="4" name="Image 0" descr="figs/fig_asymmetry.png"/>
          <p:cNvPicPr>
            <a:picLocks noChangeAspect="1"/>
          </p:cNvPicPr>
          <p:nvPr/>
        </p:nvPicPr>
        <p:blipFill>
          <a:blip r:embed="rId3"/>
          <a:stretch>
            <a:fillRect/>
          </a:stretch>
        </p:blipFill>
        <p:spPr>
          <a:xfrm>
            <a:off x="1285138" y="1005840"/>
            <a:ext cx="9591245" cy="3977640"/>
          </a:xfrm>
          <a:prstGeom prst="rect">
            <a:avLst/>
          </a:prstGeom>
        </p:spPr>
      </p:pic>
      <p:sp>
        <p:nvSpPr>
          <p:cNvPr id="5" name="Text 2"/>
          <p:cNvSpPr txBox="1"/>
          <p:nvPr/>
        </p:nvSpPr>
        <p:spPr>
          <a:xfrm>
            <a:off x="914400" y="5074920"/>
            <a:ext cx="10515600" cy="1691640"/>
          </a:xfrm>
          <a:prstGeom prst="rect">
            <a:avLst/>
          </a:prstGeom>
          <a:noFill/>
          <a:ln/>
        </p:spPr>
        <p:txBody>
          <a:bodyPr wrap="square" rtlCol="0" anchor="t"/>
          <a:lstStyle/>
          <a:p>
            <a:pPr marL="152400" indent="-1524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Diffraction makes cones; on the detector they are rings, and low-angle rings are small and strongly curved</a:t>
            </a:r>
            <a:endParaRPr lang="en-US" sz="1400" dirty="0"/>
          </a:p>
          <a:p>
            <a:pPr marL="152400" indent="-1524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The receiving slit is straight and tall: scanning outward, its tips clip the ring before its center gets there, so counts arrive early and pile up on the low-angle side</a:t>
            </a:r>
            <a:endParaRPr lang="en-US" sz="1400" dirty="0"/>
          </a:p>
          <a:p>
            <a:pPr marL="152400" indent="-1524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The early shift scales as H²/2r, which is why the lean is worst at low 2θ (and on high-resolution instruments)</a:t>
            </a:r>
            <a:endParaRPr lang="en-US" sz="1400" dirty="0"/>
          </a:p>
          <a:p>
            <a:pPr marL="152400" indent="-1524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Model it with the Finger-Cox-Jephcoat correction (built into GSAS-II); never absorb it into peak width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Soller slits tame axial divergence, at the cost of intensity</a:t>
            </a:r>
            <a:endParaRPr lang="en-US" sz="2400" dirty="0"/>
          </a:p>
        </p:txBody>
      </p:sp>
      <p:pic>
        <p:nvPicPr>
          <p:cNvPr id="4" name="Image 0" descr="figs/fig_soller.png"/>
          <p:cNvPicPr>
            <a:picLocks noChangeAspect="1"/>
          </p:cNvPicPr>
          <p:nvPr/>
        </p:nvPicPr>
        <p:blipFill>
          <a:blip r:embed="rId3"/>
          <a:stretch>
            <a:fillRect/>
          </a:stretch>
        </p:blipFill>
        <p:spPr>
          <a:xfrm>
            <a:off x="832516" y="1051560"/>
            <a:ext cx="10496489" cy="4114800"/>
          </a:xfrm>
          <a:prstGeom prst="rect">
            <a:avLst/>
          </a:prstGeom>
        </p:spPr>
      </p:pic>
      <p:sp>
        <p:nvSpPr>
          <p:cNvPr id="5" name="Text 2"/>
          <p:cNvSpPr txBox="1"/>
          <p:nvPr/>
        </p:nvSpPr>
        <p:spPr>
          <a:xfrm>
            <a:off x="914400" y="5257800"/>
            <a:ext cx="10515600" cy="1508760"/>
          </a:xfrm>
          <a:prstGeom prst="rect">
            <a:avLst/>
          </a:prstGeom>
          <a:noFill/>
          <a:ln/>
        </p:spPr>
        <p:txBody>
          <a:bodyPr wrap="square" rtlCol="0" anchor="t"/>
          <a:lstStyle/>
          <a:p>
            <a:pPr marL="152400" indent="-1524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A stack of thin parallel foils limits out-of-plane divergence to roughly (foil spacing) / (foil length)</a:t>
            </a:r>
            <a:endParaRPr lang="en-US" sz="1400" dirty="0"/>
          </a:p>
          <a:p>
            <a:pPr marL="152400" indent="-1524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Less axial divergence = shorter low-angle tail and more accurate peak positions</a:t>
            </a:r>
            <a:endParaRPr lang="en-US" sz="1400" dirty="0"/>
          </a:p>
          <a:p>
            <a:pPr marL="152400" indent="-1524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The price is counts: every blocked ray is simply lost, so counting times grow</a:t>
            </a:r>
            <a:endParaRPr lang="en-US" sz="1400" dirty="0"/>
          </a:p>
          <a:p>
            <a:pPr marL="152400" indent="-1524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Some asymmetry always survives, so the Finger-Cox-Jephcoat correction still applies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The difference curve tells you which parameter is wrong</a:t>
            </a:r>
            <a:endParaRPr lang="en-US" sz="2400" dirty="0"/>
          </a:p>
        </p:txBody>
      </p:sp>
      <p:pic>
        <p:nvPicPr>
          <p:cNvPr id="4" name="Image 0" descr="figs/fig_ekg.png"/>
          <p:cNvPicPr>
            <a:picLocks noChangeAspect="1"/>
          </p:cNvPicPr>
          <p:nvPr/>
        </p:nvPicPr>
        <p:blipFill>
          <a:blip r:embed="rId3"/>
          <a:stretch>
            <a:fillRect/>
          </a:stretch>
        </p:blipFill>
        <p:spPr>
          <a:xfrm>
            <a:off x="2206214" y="1005840"/>
            <a:ext cx="7749092" cy="5303520"/>
          </a:xfrm>
          <a:prstGeom prst="rect">
            <a:avLst/>
          </a:prstGeom>
        </p:spPr>
      </p:pic>
      <p:sp>
        <p:nvSpPr>
          <p:cNvPr id="5"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Real misfits are superpositions of these four fingerprints (after McCusker et al., J. Appl. Cryst. 32, 36, 1999)</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Rp, Rwp, and chi-squared put numbers on the fit</a:t>
            </a:r>
            <a:endParaRPr lang="en-US" sz="2400" dirty="0"/>
          </a:p>
        </p:txBody>
      </p:sp>
      <p:sp>
        <p:nvSpPr>
          <p:cNvPr id="4" name="Text 2"/>
          <p:cNvSpPr txBox="1"/>
          <p:nvPr/>
        </p:nvSpPr>
        <p:spPr>
          <a:xfrm>
            <a:off x="640080" y="2254250"/>
            <a:ext cx="5120640" cy="3323590"/>
          </a:xfrm>
          <a:prstGeom prst="rect">
            <a:avLst/>
          </a:prstGeom>
          <a:noFill/>
          <a:ln/>
        </p:spPr>
        <p:txBody>
          <a:bodyPr wrap="square" rtlCol="0" anchor="t"/>
          <a:lstStyle/>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Rp: plain difference between observed and calculated intensities</a:t>
            </a:r>
            <a:endParaRPr lang="en-US" sz="1700" dirty="0"/>
          </a:p>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Rwp: weighted, so strong peaks matter more than weak ones; this is what least squares minimizes</a:t>
            </a:r>
            <a:endParaRPr lang="en-US" sz="1700" dirty="0"/>
          </a:p>
          <a:p>
            <a:pPr marL="152400" indent="-152400" algn="l">
              <a:spcAft>
                <a:spcPts val="1000"/>
              </a:spcAft>
              <a:buSzPct val="100000"/>
              <a:buChar char="•"/>
            </a:pPr>
            <a:r>
              <a:rPr lang="en-US" sz="1700" b="1" dirty="0">
                <a:solidFill>
                  <a:srgbClr val="A05F74"/>
                </a:solidFill>
                <a:latin typeface="Calibri" pitchFamily="34" charset="0"/>
                <a:ea typeface="Calibri" pitchFamily="34" charset="-122"/>
                <a:cs typeface="Calibri" pitchFamily="34" charset="-120"/>
              </a:rPr>
              <a:t>Common guideline: Rwp &lt; 10% or χ² &lt; 4 for a good fit</a:t>
            </a:r>
            <a:endParaRPr lang="en-US" sz="1700" dirty="0"/>
          </a:p>
        </p:txBody>
      </p:sp>
      <p:pic>
        <p:nvPicPr>
          <p:cNvPr id="5" name="Image 0" descr="media_export/image17.png"/>
          <p:cNvPicPr>
            <a:picLocks noChangeAspect="1"/>
          </p:cNvPicPr>
          <p:nvPr/>
        </p:nvPicPr>
        <p:blipFill>
          <a:blip r:embed="rId3"/>
          <a:stretch>
            <a:fillRect/>
          </a:stretch>
        </p:blipFill>
        <p:spPr>
          <a:xfrm>
            <a:off x="6035040" y="1994237"/>
            <a:ext cx="5669280" cy="1132166"/>
          </a:xfrm>
          <a:prstGeom prst="rect">
            <a:avLst/>
          </a:prstGeom>
        </p:spPr>
      </p:pic>
      <p:pic>
        <p:nvPicPr>
          <p:cNvPr id="6" name="Image 1" descr="media_export/image18.png"/>
          <p:cNvPicPr>
            <a:picLocks noChangeAspect="1"/>
          </p:cNvPicPr>
          <p:nvPr/>
        </p:nvPicPr>
        <p:blipFill>
          <a:blip r:embed="rId4"/>
          <a:stretch>
            <a:fillRect/>
          </a:stretch>
        </p:blipFill>
        <p:spPr>
          <a:xfrm>
            <a:off x="6788150" y="3784554"/>
            <a:ext cx="4478020" cy="1876817"/>
          </a:xfrm>
          <a:prstGeom prst="rect">
            <a:avLst/>
          </a:prstGeom>
        </p:spPr>
      </p:pic>
      <p:sp>
        <p:nvSpPr>
          <p:cNvPr id="7" name="Text 3"/>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prism.mit.edu/xray/RietveldGOF.pdf</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A good Rwp can hide a bad fit, and vice versa</a:t>
            </a:r>
            <a:endParaRPr lang="en-US" sz="2400" dirty="0"/>
          </a:p>
        </p:txBody>
      </p:sp>
      <p:sp>
        <p:nvSpPr>
          <p:cNvPr id="4" name="Text 2"/>
          <p:cNvSpPr txBox="1"/>
          <p:nvPr/>
        </p:nvSpPr>
        <p:spPr>
          <a:xfrm>
            <a:off x="640080" y="1234440"/>
            <a:ext cx="10972800" cy="1737360"/>
          </a:xfrm>
          <a:prstGeom prst="rect">
            <a:avLst/>
          </a:prstGeom>
          <a:noFill/>
          <a:ln/>
        </p:spPr>
        <p:txBody>
          <a:bodyPr wrap="square" rtlCol="0" anchor="t"/>
          <a:lstStyle/>
          <a:p>
            <a:pPr marL="152400"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Background sits in the denominator: high background flatters Rwp for the very same peak misfit</a:t>
            </a:r>
            <a:endParaRPr lang="en-US" sz="1600" dirty="0"/>
          </a:p>
          <a:p>
            <a:pPr marL="152400"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Never compare Rwp across instruments: TOF neutron at 3% and lab XRD at 10% can be equally good fits</a:t>
            </a:r>
            <a:endParaRPr lang="en-US" sz="1600" dirty="0"/>
          </a:p>
          <a:p>
            <a:pPr marL="152400"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Your floor is the Le Bail Rwp; judge fits with the plot and chemical sense, not the number (Toby, 2006)</a:t>
            </a:r>
            <a:endParaRPr lang="en-US" sz="1600" dirty="0"/>
          </a:p>
        </p:txBody>
      </p:sp>
      <p:pic>
        <p:nvPicPr>
          <p:cNvPr id="5" name="Image 0" descr="figs/fig_rwp.png"/>
          <p:cNvPicPr>
            <a:picLocks noChangeAspect="1"/>
          </p:cNvPicPr>
          <p:nvPr/>
        </p:nvPicPr>
        <p:blipFill>
          <a:blip r:embed="rId3"/>
          <a:stretch>
            <a:fillRect/>
          </a:stretch>
        </p:blipFill>
        <p:spPr>
          <a:xfrm>
            <a:off x="1751281" y="3017520"/>
            <a:ext cx="8658957" cy="35661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Convergence to a minimum is not proof you found THE minimum</a:t>
            </a:r>
            <a:endParaRPr lang="en-US" sz="2400" dirty="0"/>
          </a:p>
        </p:txBody>
      </p:sp>
      <p:pic>
        <p:nvPicPr>
          <p:cNvPr id="4" name="Image 0" descr="figs/fig_minima.png"/>
          <p:cNvPicPr>
            <a:picLocks noChangeAspect="1"/>
          </p:cNvPicPr>
          <p:nvPr/>
        </p:nvPicPr>
        <p:blipFill>
          <a:blip r:embed="rId3"/>
          <a:stretch>
            <a:fillRect/>
          </a:stretch>
        </p:blipFill>
        <p:spPr>
          <a:xfrm>
            <a:off x="1796671" y="1188720"/>
            <a:ext cx="8568178" cy="4480560"/>
          </a:xfrm>
          <a:prstGeom prst="rect">
            <a:avLst/>
          </a:prstGeom>
        </p:spPr>
      </p:pic>
      <p:sp>
        <p:nvSpPr>
          <p:cNvPr id="5" name="Text 2"/>
          <p:cNvSpPr txBox="1"/>
          <p:nvPr/>
        </p:nvSpPr>
        <p:spPr>
          <a:xfrm>
            <a:off x="1828800" y="5897880"/>
            <a:ext cx="8503920" cy="548640"/>
          </a:xfrm>
          <a:prstGeom prst="rect">
            <a:avLst/>
          </a:prstGeom>
          <a:noFill/>
          <a:ln/>
        </p:spPr>
        <p:txBody>
          <a:bodyPr wrap="square" rtlCol="0" anchor="ctr"/>
          <a:lstStyle/>
          <a:p>
            <a:pPr marL="0" indent="0" algn="ctr">
              <a:buNone/>
            </a:pPr>
            <a:r>
              <a:rPr lang="en-US" sz="1600" i="1" dirty="0">
                <a:solidFill>
                  <a:srgbClr val="1A2744"/>
                </a:solidFill>
                <a:latin typeface="Calibri" pitchFamily="34" charset="0"/>
                <a:ea typeface="Calibri" pitchFamily="34" charset="-122"/>
                <a:cs typeface="Calibri" pitchFamily="34" charset="-120"/>
              </a:rPr>
              <a:t>"A Rietveld refinement is never finished, only abandoned."   P. W. Stephens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Refinement turn-on order is correlation management</a:t>
            </a:r>
            <a:endParaRPr lang="en-US" sz="2400" dirty="0"/>
          </a:p>
        </p:txBody>
      </p:sp>
      <p:sp>
        <p:nvSpPr>
          <p:cNvPr id="4" name="Text 2"/>
          <p:cNvSpPr txBox="1"/>
          <p:nvPr/>
        </p:nvSpPr>
        <p:spPr>
          <a:xfrm>
            <a:off x="731520" y="1371600"/>
            <a:ext cx="4937760" cy="4937760"/>
          </a:xfrm>
          <a:prstGeom prst="rect">
            <a:avLst/>
          </a:prstGeom>
          <a:noFill/>
          <a:ln/>
        </p:spPr>
        <p:txBody>
          <a:bodyPr wrap="square" rtlCol="0" anchor="t"/>
          <a:lstStyle/>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1.  Scale + background</a:t>
            </a:r>
            <a:endParaRPr lang="en-US" sz="1800" dirty="0"/>
          </a:p>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2.  Lattice + zero (or displacement)</a:t>
            </a:r>
            <a:endParaRPr lang="en-US" sz="1800" dirty="0"/>
          </a:p>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3.  Profile: W first, then U, V, X, Y</a:t>
            </a:r>
            <a:endParaRPr lang="en-US" sz="1800" dirty="0"/>
          </a:p>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4.  Positions: heavy atoms, then light</a:t>
            </a:r>
            <a:endParaRPr lang="en-US" sz="1800" dirty="0"/>
          </a:p>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5.  Uiso (constrain similar atoms early)</a:t>
            </a:r>
            <a:endParaRPr lang="en-US" sz="1800" dirty="0"/>
          </a:p>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6.  Occupancies last, then all together</a:t>
            </a:r>
            <a:endParaRPr lang="en-US" sz="1800" dirty="0"/>
          </a:p>
          <a:p>
            <a:pPr marL="0" indent="0" algn="l">
              <a:spcAft>
                <a:spcPts val="1000"/>
              </a:spcAft>
              <a:buNone/>
            </a:pPr>
            <a:r>
              <a:rPr lang="en-US" sz="1800" b="1" dirty="0">
                <a:solidFill>
                  <a:srgbClr val="A05F74"/>
                </a:solidFill>
                <a:latin typeface="Calibri" pitchFamily="34" charset="0"/>
                <a:ea typeface="Calibri" pitchFamily="34" charset="-122"/>
                <a:cs typeface="Calibri" pitchFamily="34" charset="-120"/>
              </a:rPr>
              <a:t>Rule of thumb: observations per parameter ≥ 3, ideally 5</a:t>
            </a:r>
            <a:endParaRPr lang="en-US" sz="1800" dirty="0"/>
          </a:p>
        </p:txBody>
      </p:sp>
      <p:pic>
        <p:nvPicPr>
          <p:cNvPr id="5" name="Image 0" descr="figs/fig_corr.png"/>
          <p:cNvPicPr>
            <a:picLocks noChangeAspect="1"/>
          </p:cNvPicPr>
          <p:nvPr/>
        </p:nvPicPr>
        <p:blipFill>
          <a:blip r:embed="rId3"/>
          <a:stretch>
            <a:fillRect/>
          </a:stretch>
        </p:blipFill>
        <p:spPr>
          <a:xfrm>
            <a:off x="6035040" y="1391279"/>
            <a:ext cx="5669280" cy="480696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Multiphase analysis starts by matching the peak list to phases</a:t>
            </a:r>
            <a:endParaRPr lang="en-US" sz="2400" dirty="0"/>
          </a:p>
        </p:txBody>
      </p:sp>
      <p:pic>
        <p:nvPicPr>
          <p:cNvPr id="4" name="Image 0" descr="media_export/image19.png"/>
          <p:cNvPicPr>
            <a:picLocks noChangeAspect="1"/>
          </p:cNvPicPr>
          <p:nvPr/>
        </p:nvPicPr>
        <p:blipFill>
          <a:blip r:embed="rId3"/>
          <a:stretch>
            <a:fillRect/>
          </a:stretch>
        </p:blipFill>
        <p:spPr>
          <a:xfrm>
            <a:off x="1737360" y="1214459"/>
            <a:ext cx="8686800" cy="525204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A three-phase Rietveld fit resolves the mixture directly</a:t>
            </a:r>
            <a:endParaRPr lang="en-US" sz="2400" dirty="0"/>
          </a:p>
        </p:txBody>
      </p:sp>
      <p:pic>
        <p:nvPicPr>
          <p:cNvPr id="4" name="Image 0" descr="media_export/image20.jpeg"/>
          <p:cNvPicPr>
            <a:picLocks noChangeAspect="1"/>
          </p:cNvPicPr>
          <p:nvPr/>
        </p:nvPicPr>
        <p:blipFill>
          <a:blip r:embed="rId3"/>
          <a:stretch>
            <a:fillRect/>
          </a:stretch>
        </p:blipFill>
        <p:spPr>
          <a:xfrm>
            <a:off x="2994660" y="1097280"/>
            <a:ext cx="6172200" cy="5486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The SMZ relation converts scale factors into weight fractions</a:t>
            </a:r>
            <a:endParaRPr lang="en-US" sz="2400" dirty="0"/>
          </a:p>
        </p:txBody>
      </p:sp>
      <p:sp>
        <p:nvSpPr>
          <p:cNvPr id="4" name="Text 2"/>
          <p:cNvSpPr txBox="1"/>
          <p:nvPr/>
        </p:nvSpPr>
        <p:spPr>
          <a:xfrm>
            <a:off x="731520" y="1463040"/>
            <a:ext cx="6035040" cy="4023360"/>
          </a:xfrm>
          <a:prstGeom prst="rect">
            <a:avLst/>
          </a:prstGeom>
          <a:noFill/>
          <a:ln/>
        </p:spPr>
        <p:txBody>
          <a:bodyPr wrap="square" rtlCol="0" anchor="t"/>
          <a:lstStyle/>
          <a:p>
            <a:pPr marL="152400"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S is the phase scale factor, proportional to the number of unit cells measured</a:t>
            </a:r>
            <a:endParaRPr lang="en-US" sz="1800" dirty="0"/>
          </a:p>
          <a:p>
            <a:pPr marL="152400"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M is the molecular weight</a:t>
            </a:r>
            <a:endParaRPr lang="en-US" sz="1800" dirty="0"/>
          </a:p>
          <a:p>
            <a:pPr marL="152400"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Z is the number of formula units per unit cell</a:t>
            </a:r>
            <a:endParaRPr lang="en-US" sz="1800" dirty="0"/>
          </a:p>
          <a:p>
            <a:pPr marL="152400"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The product SMZ is proportional to the concentration of each phase</a:t>
            </a:r>
            <a:endParaRPr lang="en-US" sz="1800" dirty="0"/>
          </a:p>
        </p:txBody>
      </p:sp>
      <p:pic>
        <p:nvPicPr>
          <p:cNvPr id="5" name="Image 0" descr="figs/fig_smz.png"/>
          <p:cNvPicPr>
            <a:picLocks noChangeAspect="1"/>
          </p:cNvPicPr>
          <p:nvPr/>
        </p:nvPicPr>
        <p:blipFill>
          <a:blip r:embed="rId3"/>
          <a:stretch>
            <a:fillRect/>
          </a:stretch>
        </p:blipFill>
        <p:spPr>
          <a:xfrm>
            <a:off x="7740650" y="1824355"/>
            <a:ext cx="3355340" cy="181281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Round-robin studies show quantitative analysis is accurate to a few percent</a:t>
            </a:r>
            <a:endParaRPr lang="en-US" sz="2400" dirty="0"/>
          </a:p>
        </p:txBody>
      </p:sp>
      <p:pic>
        <p:nvPicPr>
          <p:cNvPr id="4" name="Image 0" descr="media_export/image22.png"/>
          <p:cNvPicPr>
            <a:picLocks noChangeAspect="1"/>
          </p:cNvPicPr>
          <p:nvPr/>
        </p:nvPicPr>
        <p:blipFill>
          <a:blip r:embed="rId3"/>
          <a:srcRect t="18032" b="17820"/>
          <a:stretch>
            <a:fillRect/>
          </a:stretch>
        </p:blipFill>
        <p:spPr>
          <a:xfrm>
            <a:off x="2679086" y="825500"/>
            <a:ext cx="6420464" cy="5825158"/>
          </a:xfrm>
          <a:prstGeom prst="rect">
            <a:avLst/>
          </a:prstGeom>
        </p:spPr>
      </p:pic>
      <p:sp>
        <p:nvSpPr>
          <p:cNvPr id="5"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James Kaduk, ICDD, Rietveld Refinement Workshop, Oct 2010</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Rietveld quantifies 6% tellurium recovered from a seawater medium</a:t>
            </a:r>
            <a:endParaRPr lang="en-US" sz="2400" dirty="0"/>
          </a:p>
        </p:txBody>
      </p:sp>
      <p:pic>
        <p:nvPicPr>
          <p:cNvPr id="4" name="Image 0" descr="media_export/image23.jpeg"/>
          <p:cNvPicPr>
            <a:picLocks noChangeAspect="1"/>
          </p:cNvPicPr>
          <p:nvPr/>
        </p:nvPicPr>
        <p:blipFill>
          <a:blip r:embed="rId3"/>
          <a:stretch>
            <a:fillRect/>
          </a:stretch>
        </p:blipFill>
        <p:spPr>
          <a:xfrm>
            <a:off x="922258" y="1143000"/>
            <a:ext cx="6019324" cy="5029200"/>
          </a:xfrm>
          <a:prstGeom prst="rect">
            <a:avLst/>
          </a:prstGeom>
        </p:spPr>
      </p:pic>
      <p:pic>
        <p:nvPicPr>
          <p:cNvPr id="5" name="Image 1" descr="media_export/image24.jpeg"/>
          <p:cNvPicPr>
            <a:picLocks noChangeAspect="1"/>
          </p:cNvPicPr>
          <p:nvPr/>
        </p:nvPicPr>
        <p:blipFill>
          <a:blip r:embed="rId4"/>
          <a:stretch>
            <a:fillRect/>
          </a:stretch>
        </p:blipFill>
        <p:spPr>
          <a:xfrm>
            <a:off x="7498080" y="4370259"/>
            <a:ext cx="4297680" cy="1043562"/>
          </a:xfrm>
          <a:prstGeom prst="rect">
            <a:avLst/>
          </a:prstGeom>
        </p:spPr>
      </p:pic>
      <p:sp>
        <p:nvSpPr>
          <p:cNvPr id="6" name="Text 2"/>
          <p:cNvSpPr txBox="1"/>
          <p:nvPr/>
        </p:nvSpPr>
        <p:spPr>
          <a:xfrm>
            <a:off x="7772400" y="1371600"/>
            <a:ext cx="3840480" cy="1737360"/>
          </a:xfrm>
          <a:prstGeom prst="rect">
            <a:avLst/>
          </a:prstGeom>
          <a:noFill/>
          <a:ln/>
        </p:spPr>
        <p:txBody>
          <a:bodyPr wrap="square" rtlCol="0" anchor="t"/>
          <a:lstStyle/>
          <a:p>
            <a:pPr marL="0" indent="0" algn="l">
              <a:spcAft>
                <a:spcPts val="1000"/>
              </a:spcAft>
              <a:buNone/>
            </a:pPr>
            <a:r>
              <a:rPr lang="en-US" sz="1900" b="1" dirty="0">
                <a:solidFill>
                  <a:srgbClr val="333333"/>
                </a:solidFill>
                <a:latin typeface="Calibri" pitchFamily="34" charset="0"/>
                <a:ea typeface="Calibri" pitchFamily="34" charset="-122"/>
                <a:cs typeface="Calibri" pitchFamily="34" charset="-120"/>
              </a:rPr>
              <a:t>93.9% NaCl</a:t>
            </a:r>
            <a:endParaRPr lang="en-US" sz="1900" dirty="0"/>
          </a:p>
          <a:p>
            <a:pPr marL="0" indent="0" algn="l">
              <a:spcAft>
                <a:spcPts val="1000"/>
              </a:spcAft>
              <a:buNone/>
            </a:pPr>
            <a:r>
              <a:rPr lang="en-US" sz="1900" b="1" dirty="0">
                <a:solidFill>
                  <a:srgbClr val="333333"/>
                </a:solidFill>
                <a:latin typeface="Calibri" pitchFamily="34" charset="0"/>
                <a:ea typeface="Calibri" pitchFamily="34" charset="-122"/>
                <a:cs typeface="Calibri" pitchFamily="34" charset="-120"/>
              </a:rPr>
              <a:t>6.1% Te</a:t>
            </a:r>
            <a:endParaRPr lang="en-US" sz="1900" dirty="0"/>
          </a:p>
          <a:p>
            <a:pPr marL="0" indent="0" algn="l">
              <a:spcAft>
                <a:spcPts val="1000"/>
              </a:spcAft>
              <a:buNone/>
            </a:pPr>
            <a:r>
              <a:rPr lang="en-US" sz="1900" dirty="0">
                <a:solidFill>
                  <a:srgbClr val="A05F74"/>
                </a:solidFill>
                <a:latin typeface="Calibri" pitchFamily="34" charset="0"/>
                <a:ea typeface="Calibri" pitchFamily="34" charset="-122"/>
                <a:cs typeface="Calibri" pitchFamily="34" charset="-120"/>
              </a:rPr>
              <a:t>Rwp = 6.9%</a:t>
            </a:r>
            <a:endParaRPr lang="en-US" sz="1900" dirty="0"/>
          </a:p>
        </p:txBody>
      </p:sp>
      <p:sp>
        <p:nvSpPr>
          <p:cNvPr id="7" name="Text 3"/>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Error sources: absorption (transparency), sample volume (more powder)</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The intended Y3Sc4AlO12 actually crystallized as three phases</a:t>
            </a:r>
            <a:endParaRPr lang="en-US" sz="2400" dirty="0"/>
          </a:p>
        </p:txBody>
      </p:sp>
      <p:pic>
        <p:nvPicPr>
          <p:cNvPr id="4" name="Image 0" descr="media_export/image25.jpeg"/>
          <p:cNvPicPr>
            <a:picLocks noChangeAspect="1"/>
          </p:cNvPicPr>
          <p:nvPr/>
        </p:nvPicPr>
        <p:blipFill>
          <a:blip r:embed="rId3"/>
          <a:stretch>
            <a:fillRect/>
          </a:stretch>
        </p:blipFill>
        <p:spPr>
          <a:xfrm>
            <a:off x="548640" y="1667049"/>
            <a:ext cx="6766560" cy="3981102"/>
          </a:xfrm>
          <a:prstGeom prst="rect">
            <a:avLst/>
          </a:prstGeom>
        </p:spPr>
      </p:pic>
      <p:pic>
        <p:nvPicPr>
          <p:cNvPr id="5" name="Image 1" descr="media_export/image26.jpeg"/>
          <p:cNvPicPr>
            <a:picLocks noChangeAspect="1"/>
          </p:cNvPicPr>
          <p:nvPr/>
        </p:nvPicPr>
        <p:blipFill>
          <a:blip r:embed="rId4"/>
          <a:stretch>
            <a:fillRect/>
          </a:stretch>
        </p:blipFill>
        <p:spPr>
          <a:xfrm>
            <a:off x="7498080" y="4724074"/>
            <a:ext cx="4297680" cy="884571"/>
          </a:xfrm>
          <a:prstGeom prst="rect">
            <a:avLst/>
          </a:prstGeom>
        </p:spPr>
      </p:pic>
      <p:sp>
        <p:nvSpPr>
          <p:cNvPr id="6" name="Text 2"/>
          <p:cNvSpPr txBox="1"/>
          <p:nvPr/>
        </p:nvSpPr>
        <p:spPr>
          <a:xfrm>
            <a:off x="7772400" y="1371600"/>
            <a:ext cx="3840480" cy="2377440"/>
          </a:xfrm>
          <a:prstGeom prst="rect">
            <a:avLst/>
          </a:prstGeom>
          <a:noFill/>
          <a:ln/>
        </p:spPr>
        <p:txBody>
          <a:bodyPr wrap="square" rtlCol="0" anchor="t"/>
          <a:lstStyle/>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36% YAG (Ia-3d)</a:t>
            </a:r>
            <a:endParaRPr lang="en-US" sz="1800" dirty="0"/>
          </a:p>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50.3% YScO3 (Ia-3)</a:t>
            </a:r>
            <a:endParaRPr lang="en-US" sz="1800" dirty="0"/>
          </a:p>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13.7% YScO3 (Pnma)</a:t>
            </a:r>
            <a:endParaRPr lang="en-US" sz="1800" dirty="0"/>
          </a:p>
          <a:p>
            <a:pPr marL="0" indent="0" algn="l">
              <a:spcAft>
                <a:spcPts val="1000"/>
              </a:spcAft>
              <a:buNone/>
            </a:pPr>
            <a:r>
              <a:rPr lang="en-US" sz="1800" dirty="0">
                <a:solidFill>
                  <a:srgbClr val="A05F74"/>
                </a:solidFill>
                <a:latin typeface="Calibri" pitchFamily="34" charset="0"/>
                <a:ea typeface="Calibri" pitchFamily="34" charset="-122"/>
                <a:cs typeface="Calibri" pitchFamily="34" charset="-120"/>
              </a:rPr>
              <a:t>Rwp = 5.3%</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Y3Sc5O12 instead formed nearly phase-pure bixbyite</a:t>
            </a:r>
            <a:endParaRPr lang="en-US" sz="2400" dirty="0"/>
          </a:p>
        </p:txBody>
      </p:sp>
      <p:pic>
        <p:nvPicPr>
          <p:cNvPr id="4" name="Image 0" descr="media_export/image27.jpeg"/>
          <p:cNvPicPr>
            <a:picLocks noChangeAspect="1"/>
          </p:cNvPicPr>
          <p:nvPr/>
        </p:nvPicPr>
        <p:blipFill>
          <a:blip r:embed="rId3"/>
          <a:stretch>
            <a:fillRect/>
          </a:stretch>
        </p:blipFill>
        <p:spPr>
          <a:xfrm>
            <a:off x="548640" y="1506988"/>
            <a:ext cx="6766560" cy="4301224"/>
          </a:xfrm>
          <a:prstGeom prst="rect">
            <a:avLst/>
          </a:prstGeom>
        </p:spPr>
      </p:pic>
      <p:pic>
        <p:nvPicPr>
          <p:cNvPr id="5" name="Image 1" descr="media_export/image28.jpeg"/>
          <p:cNvPicPr>
            <a:picLocks noChangeAspect="1"/>
          </p:cNvPicPr>
          <p:nvPr/>
        </p:nvPicPr>
        <p:blipFill>
          <a:blip r:embed="rId4"/>
          <a:stretch>
            <a:fillRect/>
          </a:stretch>
        </p:blipFill>
        <p:spPr>
          <a:xfrm>
            <a:off x="7498080" y="4829042"/>
            <a:ext cx="4297680" cy="674636"/>
          </a:xfrm>
          <a:prstGeom prst="rect">
            <a:avLst/>
          </a:prstGeom>
        </p:spPr>
      </p:pic>
      <p:sp>
        <p:nvSpPr>
          <p:cNvPr id="6" name="Text 2"/>
          <p:cNvSpPr txBox="1"/>
          <p:nvPr/>
        </p:nvSpPr>
        <p:spPr>
          <a:xfrm>
            <a:off x="7772400" y="1371600"/>
            <a:ext cx="3840480" cy="2011680"/>
          </a:xfrm>
          <a:prstGeom prst="rect">
            <a:avLst/>
          </a:prstGeom>
          <a:noFill/>
          <a:ln/>
        </p:spPr>
        <p:txBody>
          <a:bodyPr wrap="square" rtlCol="0" anchor="t"/>
          <a:lstStyle/>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99.2% Y3/4Sc5/4O3 (Ia-3)</a:t>
            </a:r>
            <a:endParaRPr lang="en-US" sz="1800" dirty="0"/>
          </a:p>
          <a:p>
            <a:pPr marL="0" indent="0" algn="l">
              <a:spcAft>
                <a:spcPts val="1000"/>
              </a:spcAft>
              <a:buNone/>
            </a:pPr>
            <a:r>
              <a:rPr lang="en-US" sz="1800" dirty="0">
                <a:solidFill>
                  <a:srgbClr val="333333"/>
                </a:solidFill>
                <a:latin typeface="Calibri" pitchFamily="34" charset="0"/>
                <a:ea typeface="Calibri" pitchFamily="34" charset="-122"/>
                <a:cs typeface="Calibri" pitchFamily="34" charset="-120"/>
              </a:rPr>
              <a:t>0.8% Y (P63/mmc)</a:t>
            </a:r>
            <a:endParaRPr lang="en-US" sz="1800" dirty="0"/>
          </a:p>
          <a:p>
            <a:pPr marL="0" indent="0" algn="l">
              <a:spcAft>
                <a:spcPts val="1000"/>
              </a:spcAft>
              <a:buNone/>
            </a:pPr>
            <a:r>
              <a:rPr lang="en-US" sz="1800" dirty="0">
                <a:solidFill>
                  <a:srgbClr val="A05F74"/>
                </a:solidFill>
                <a:latin typeface="Calibri" pitchFamily="34" charset="0"/>
                <a:ea typeface="Calibri" pitchFamily="34" charset="-122"/>
                <a:cs typeface="Calibri" pitchFamily="34" charset="-120"/>
              </a:rPr>
              <a:t>Rwp = 4.7%</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The Debye equation extends analysis to amorphous content</a:t>
            </a:r>
            <a:endParaRPr lang="en-US" sz="2400" dirty="0"/>
          </a:p>
        </p:txBody>
      </p:sp>
      <p:sp>
        <p:nvSpPr>
          <p:cNvPr id="4" name="Text 2"/>
          <p:cNvSpPr txBox="1"/>
          <p:nvPr/>
        </p:nvSpPr>
        <p:spPr>
          <a:xfrm>
            <a:off x="731520" y="2317750"/>
            <a:ext cx="5669280" cy="3168650"/>
          </a:xfrm>
          <a:prstGeom prst="rect">
            <a:avLst/>
          </a:prstGeom>
          <a:noFill/>
          <a:ln/>
        </p:spPr>
        <p:txBody>
          <a:bodyPr wrap="square" rtlCol="0" anchor="t"/>
          <a:lstStyle/>
          <a:p>
            <a:pPr marL="152400"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Percent amorphous material can be determined if a standard is added in a known amount</a:t>
            </a:r>
            <a:endParaRPr lang="en-US" sz="1800" dirty="0"/>
          </a:p>
          <a:p>
            <a:pPr marL="152400"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Terms describe interatomic distance and vibration amplitude</a:t>
            </a:r>
            <a:endParaRPr lang="en-US" sz="1800" dirty="0"/>
          </a:p>
          <a:p>
            <a:pPr marL="152400"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A radial distribution function is needed to determine bond distances for analysis</a:t>
            </a:r>
            <a:endParaRPr lang="en-US" sz="1800" dirty="0"/>
          </a:p>
        </p:txBody>
      </p:sp>
      <p:pic>
        <p:nvPicPr>
          <p:cNvPr id="5" name="Image 0" descr="figs/fig_debye.png"/>
          <p:cNvPicPr>
            <a:picLocks noChangeAspect="1"/>
          </p:cNvPicPr>
          <p:nvPr/>
        </p:nvPicPr>
        <p:blipFill>
          <a:blip r:embed="rId3"/>
          <a:stretch>
            <a:fillRect/>
          </a:stretch>
        </p:blipFill>
        <p:spPr>
          <a:xfrm>
            <a:off x="6400800" y="2479778"/>
            <a:ext cx="5303520" cy="25385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Glassy silica's diffuse scattering can be fit, not just subtracted</a:t>
            </a:r>
            <a:endParaRPr lang="en-US" sz="2400" dirty="0"/>
          </a:p>
        </p:txBody>
      </p:sp>
      <p:pic>
        <p:nvPicPr>
          <p:cNvPr id="4" name="Image 0" descr="media_export/image31.jpeg"/>
          <p:cNvPicPr>
            <a:picLocks noChangeAspect="1"/>
          </p:cNvPicPr>
          <p:nvPr/>
        </p:nvPicPr>
        <p:blipFill>
          <a:blip r:embed="rId3"/>
          <a:stretch>
            <a:fillRect/>
          </a:stretch>
        </p:blipFill>
        <p:spPr>
          <a:xfrm>
            <a:off x="2657414" y="1097280"/>
            <a:ext cx="6846693" cy="5212080"/>
          </a:xfrm>
          <a:prstGeom prst="rect">
            <a:avLst/>
          </a:prstGeom>
        </p:spPr>
      </p:pic>
      <p:sp>
        <p:nvSpPr>
          <p:cNvPr id="5"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James Kaduk, ICDD, Rietveld Refinement Workshop, Oct 2010</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The refined model yields a real-space radial distribution function</a:t>
            </a:r>
            <a:endParaRPr lang="en-US" sz="2400" dirty="0"/>
          </a:p>
        </p:txBody>
      </p:sp>
      <p:pic>
        <p:nvPicPr>
          <p:cNvPr id="4" name="Image 0" descr="media_export/image32.png"/>
          <p:cNvPicPr>
            <a:picLocks noChangeAspect="1"/>
          </p:cNvPicPr>
          <p:nvPr/>
        </p:nvPicPr>
        <p:blipFill>
          <a:blip r:embed="rId3"/>
          <a:stretch>
            <a:fillRect/>
          </a:stretch>
        </p:blipFill>
        <p:spPr>
          <a:xfrm>
            <a:off x="2606040" y="1097280"/>
            <a:ext cx="6949440" cy="5212080"/>
          </a:xfrm>
          <a:prstGeom prst="rect">
            <a:avLst/>
          </a:prstGeom>
        </p:spPr>
      </p:pic>
      <p:sp>
        <p:nvSpPr>
          <p:cNvPr id="5"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James Kaduk, ICDD, Rietveld Refinement Workshop, Oct 2010</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Iterating the Debye model steadily improves the diffuse fit</a:t>
            </a:r>
            <a:endParaRPr lang="en-US" sz="2400" dirty="0"/>
          </a:p>
        </p:txBody>
      </p:sp>
      <p:pic>
        <p:nvPicPr>
          <p:cNvPr id="4" name="Image 0" descr="media_export/image33.jpeg"/>
          <p:cNvPicPr>
            <a:picLocks noChangeAspect="1"/>
          </p:cNvPicPr>
          <p:nvPr/>
        </p:nvPicPr>
        <p:blipFill>
          <a:blip r:embed="rId3"/>
          <a:stretch>
            <a:fillRect/>
          </a:stretch>
        </p:blipFill>
        <p:spPr>
          <a:xfrm>
            <a:off x="2657414" y="1097280"/>
            <a:ext cx="6846693" cy="5212080"/>
          </a:xfrm>
          <a:prstGeom prst="rect">
            <a:avLst/>
          </a:prstGeom>
        </p:spPr>
      </p:pic>
      <p:sp>
        <p:nvSpPr>
          <p:cNvPr id="5"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James Kaduk, ICDD, Rietveld Refinement Workshop, Oct 2010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RDF peaks index directly to coordination shells</a:t>
            </a:r>
            <a:endParaRPr lang="en-US" sz="2400" dirty="0"/>
          </a:p>
        </p:txBody>
      </p:sp>
      <p:pic>
        <p:nvPicPr>
          <p:cNvPr id="4" name="Image 0" descr="media_export/image34.png"/>
          <p:cNvPicPr>
            <a:picLocks noChangeAspect="1"/>
          </p:cNvPicPr>
          <p:nvPr/>
        </p:nvPicPr>
        <p:blipFill>
          <a:blip r:embed="rId3"/>
          <a:stretch>
            <a:fillRect/>
          </a:stretch>
        </p:blipFill>
        <p:spPr>
          <a:xfrm>
            <a:off x="2606040" y="1097280"/>
            <a:ext cx="6949440" cy="5212080"/>
          </a:xfrm>
          <a:prstGeom prst="rect">
            <a:avLst/>
          </a:prstGeom>
        </p:spPr>
      </p:pic>
      <p:sp>
        <p:nvSpPr>
          <p:cNvPr id="5"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James Kaduk, ICDD, Rietveld Refinement Workshop, Oct 2010</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The final diffuse fit converges with chi-squared = 1.11</a:t>
            </a:r>
            <a:endParaRPr lang="en-US" sz="2400" dirty="0"/>
          </a:p>
        </p:txBody>
      </p:sp>
      <p:pic>
        <p:nvPicPr>
          <p:cNvPr id="4" name="Image 0" descr="media_export/image35.jpeg"/>
          <p:cNvPicPr>
            <a:picLocks noChangeAspect="1"/>
          </p:cNvPicPr>
          <p:nvPr/>
        </p:nvPicPr>
        <p:blipFill>
          <a:blip r:embed="rId3"/>
          <a:stretch>
            <a:fillRect/>
          </a:stretch>
        </p:blipFill>
        <p:spPr>
          <a:xfrm>
            <a:off x="2657414" y="1097280"/>
            <a:ext cx="6846693" cy="5212080"/>
          </a:xfrm>
          <a:prstGeom prst="rect">
            <a:avLst/>
          </a:prstGeom>
        </p:spPr>
      </p:pic>
      <p:sp>
        <p:nvSpPr>
          <p:cNvPr id="5"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James Kaduk, ICDD, Rietveld Refinement Workshop, Oct 2010</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Lab XRD alone cannot settle apatite site occupancies</a:t>
            </a:r>
            <a:endParaRPr lang="en-US" sz="2400" dirty="0"/>
          </a:p>
        </p:txBody>
      </p:sp>
      <p:sp>
        <p:nvSpPr>
          <p:cNvPr id="4" name="Text 2"/>
          <p:cNvSpPr txBox="1"/>
          <p:nvPr/>
        </p:nvSpPr>
        <p:spPr>
          <a:xfrm>
            <a:off x="640080" y="2368550"/>
            <a:ext cx="4206240" cy="3757930"/>
          </a:xfrm>
          <a:prstGeom prst="rect">
            <a:avLst/>
          </a:prstGeom>
          <a:noFill/>
          <a:ln/>
        </p:spPr>
        <p:txBody>
          <a:bodyPr wrap="square" rtlCol="0" anchor="t"/>
          <a:lstStyle/>
          <a:p>
            <a:pPr marL="152400"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Gd8+xCa2+y(SiO4)6O2+3x/2+y system with anion/cation vacancies</a:t>
            </a:r>
            <a:endParaRPr lang="en-US" sz="1600" dirty="0"/>
          </a:p>
          <a:p>
            <a:pPr marL="152400" indent="-152400" algn="l">
              <a:spcAft>
                <a:spcPts val="1000"/>
              </a:spcAft>
              <a:buSzPct val="100000"/>
              <a:buChar char="•"/>
            </a:pPr>
            <a:r>
              <a:rPr lang="en-US" sz="1600" b="1" dirty="0">
                <a:solidFill>
                  <a:srgbClr val="333333"/>
                </a:solidFill>
                <a:latin typeface="Calibri" pitchFamily="34" charset="0"/>
                <a:ea typeface="Calibri" pitchFamily="34" charset="-122"/>
                <a:cs typeface="Calibri" pitchFamily="34" charset="-120"/>
              </a:rPr>
              <a:t>Lab XRD is insufficient to answer:</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Impurity wt%?</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Volume change?</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Cation site preference?</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Meta-prism twist?</a:t>
            </a:r>
            <a:endParaRPr lang="en-US" sz="1600" dirty="0"/>
          </a:p>
        </p:txBody>
      </p:sp>
      <p:pic>
        <p:nvPicPr>
          <p:cNvPr id="5" name="Image 0" descr="media_export/image36.png"/>
          <p:cNvPicPr>
            <a:picLocks noChangeAspect="1"/>
          </p:cNvPicPr>
          <p:nvPr/>
        </p:nvPicPr>
        <p:blipFill>
          <a:blip r:embed="rId3"/>
          <a:stretch>
            <a:fillRect/>
          </a:stretch>
        </p:blipFill>
        <p:spPr>
          <a:xfrm>
            <a:off x="5029200" y="1978400"/>
            <a:ext cx="3657600" cy="3541281"/>
          </a:xfrm>
          <a:prstGeom prst="rect">
            <a:avLst/>
          </a:prstGeom>
        </p:spPr>
      </p:pic>
      <p:pic>
        <p:nvPicPr>
          <p:cNvPr id="6" name="Image 1" descr="media_export/image37.jpeg"/>
          <p:cNvPicPr>
            <a:picLocks noChangeAspect="1"/>
          </p:cNvPicPr>
          <p:nvPr/>
        </p:nvPicPr>
        <p:blipFill>
          <a:blip r:embed="rId4"/>
          <a:stretch>
            <a:fillRect/>
          </a:stretch>
        </p:blipFill>
        <p:spPr>
          <a:xfrm>
            <a:off x="8778240" y="2428595"/>
            <a:ext cx="3200400" cy="264089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Synchrotron data adds the resolution occupancy refinement needs</a:t>
            </a:r>
            <a:endParaRPr lang="en-US" sz="2400" dirty="0"/>
          </a:p>
        </p:txBody>
      </p:sp>
      <p:sp>
        <p:nvSpPr>
          <p:cNvPr id="4" name="Text 2"/>
          <p:cNvSpPr txBox="1"/>
          <p:nvPr/>
        </p:nvSpPr>
        <p:spPr>
          <a:xfrm>
            <a:off x="640080" y="2419350"/>
            <a:ext cx="4206240" cy="3707130"/>
          </a:xfrm>
          <a:prstGeom prst="rect">
            <a:avLst/>
          </a:prstGeom>
          <a:noFill/>
          <a:ln/>
        </p:spPr>
        <p:txBody>
          <a:bodyPr wrap="square" rtlCol="0" anchor="t"/>
          <a:lstStyle/>
          <a:p>
            <a:pPr marL="152400"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Stoichiometric composition should have the highest thermal conductivity</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Phase separation?</a:t>
            </a:r>
            <a:endParaRPr lang="en-US" sz="1600" dirty="0"/>
          </a:p>
          <a:p>
            <a:pPr marL="152400" indent="-152400" algn="l">
              <a:spcAft>
                <a:spcPts val="1000"/>
              </a:spcAft>
              <a:buSzPct val="100000"/>
              <a:buChar char="•"/>
            </a:pPr>
            <a:r>
              <a:rPr lang="en-US" sz="1600" b="1" dirty="0">
                <a:solidFill>
                  <a:srgbClr val="333333"/>
                </a:solidFill>
                <a:latin typeface="Calibri" pitchFamily="34" charset="0"/>
                <a:ea typeface="Calibri" pitchFamily="34" charset="-122"/>
                <a:cs typeface="Calibri" pitchFamily="34" charset="-120"/>
              </a:rPr>
              <a:t>Synchrotron diffraction brings:</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Improved signal-to-noise ratio</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Improved resolution</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Minimized anomalous scattering</a:t>
            </a:r>
            <a:endParaRPr lang="en-US" sz="1600" dirty="0"/>
          </a:p>
        </p:txBody>
      </p:sp>
      <p:pic>
        <p:nvPicPr>
          <p:cNvPr id="5" name="Image 0" descr="media_export/image38.jpeg"/>
          <p:cNvPicPr>
            <a:picLocks noChangeAspect="1"/>
          </p:cNvPicPr>
          <p:nvPr/>
        </p:nvPicPr>
        <p:blipFill>
          <a:blip r:embed="rId3"/>
          <a:stretch>
            <a:fillRect/>
          </a:stretch>
        </p:blipFill>
        <p:spPr>
          <a:xfrm>
            <a:off x="5029200" y="2300068"/>
            <a:ext cx="3657600" cy="2897945"/>
          </a:xfrm>
          <a:prstGeom prst="rect">
            <a:avLst/>
          </a:prstGeom>
        </p:spPr>
      </p:pic>
      <p:pic>
        <p:nvPicPr>
          <p:cNvPr id="6" name="Image 1" descr="media_export/image39.png"/>
          <p:cNvPicPr>
            <a:picLocks noChangeAspect="1"/>
          </p:cNvPicPr>
          <p:nvPr/>
        </p:nvPicPr>
        <p:blipFill>
          <a:blip r:embed="rId4"/>
          <a:stretch>
            <a:fillRect/>
          </a:stretch>
        </p:blipFill>
        <p:spPr>
          <a:xfrm>
            <a:off x="8778240" y="2148840"/>
            <a:ext cx="3200400" cy="32004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Refinement finds 5% Ca on A1 and a 23.6 degree meta-prism twist</a:t>
            </a:r>
            <a:endParaRPr lang="en-US" sz="2400" dirty="0"/>
          </a:p>
        </p:txBody>
      </p:sp>
      <p:pic>
        <p:nvPicPr>
          <p:cNvPr id="4" name="Image 0" descr="media_export/image40.png"/>
          <p:cNvPicPr>
            <a:picLocks noChangeAspect="1"/>
          </p:cNvPicPr>
          <p:nvPr/>
        </p:nvPicPr>
        <p:blipFill>
          <a:blip r:embed="rId3"/>
          <a:stretch>
            <a:fillRect/>
          </a:stretch>
        </p:blipFill>
        <p:spPr>
          <a:xfrm>
            <a:off x="862820" y="1143000"/>
            <a:ext cx="6869719" cy="5212080"/>
          </a:xfrm>
          <a:prstGeom prst="rect">
            <a:avLst/>
          </a:prstGeom>
        </p:spPr>
      </p:pic>
      <p:sp>
        <p:nvSpPr>
          <p:cNvPr id="5" name="Text 2"/>
          <p:cNvSpPr txBox="1"/>
          <p:nvPr/>
        </p:nvSpPr>
        <p:spPr>
          <a:xfrm>
            <a:off x="8321040" y="1463040"/>
            <a:ext cx="3474720" cy="3108960"/>
          </a:xfrm>
          <a:prstGeom prst="rect">
            <a:avLst/>
          </a:prstGeom>
          <a:noFill/>
          <a:ln/>
        </p:spPr>
        <p:txBody>
          <a:bodyPr wrap="square" rtlCol="0" anchor="t"/>
          <a:lstStyle/>
          <a:p>
            <a:pPr marL="0" indent="0" algn="l">
              <a:spcAft>
                <a:spcPts val="1000"/>
              </a:spcAft>
              <a:buNone/>
            </a:pPr>
            <a:r>
              <a:rPr lang="en-US" sz="1700" dirty="0">
                <a:solidFill>
                  <a:srgbClr val="A05F74"/>
                </a:solidFill>
                <a:latin typeface="Calibri" pitchFamily="34" charset="0"/>
                <a:ea typeface="Calibri" pitchFamily="34" charset="-122"/>
                <a:cs typeface="Calibri" pitchFamily="34" charset="-120"/>
              </a:rPr>
              <a:t>Rwp = 6.29%</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85% Gd7.7Ca2.3(SiO4)6O2</a:t>
            </a:r>
            <a:endParaRPr lang="en-US" sz="1700" dirty="0"/>
          </a:p>
          <a:p>
            <a:pPr marL="0" indent="0" algn="l">
              <a:spcAft>
                <a:spcPts val="1000"/>
              </a:spcAft>
              <a:buNone/>
            </a:pPr>
            <a:r>
              <a:rPr lang="en-US" sz="1700" dirty="0">
                <a:solidFill>
                  <a:srgbClr val="333333"/>
                </a:solidFill>
                <a:latin typeface="Calibri" pitchFamily="34" charset="0"/>
                <a:ea typeface="Calibri" pitchFamily="34" charset="-122"/>
                <a:cs typeface="Calibri" pitchFamily="34" charset="-120"/>
              </a:rPr>
              <a:t>14% Gd2SiO5</a:t>
            </a:r>
            <a:endParaRPr lang="en-US" sz="1700" dirty="0"/>
          </a:p>
          <a:p>
            <a:pPr marL="0" indent="0" algn="l">
              <a:spcAft>
                <a:spcPts val="1000"/>
              </a:spcAft>
              <a:buNone/>
            </a:pPr>
            <a:r>
              <a:rPr lang="en-US" sz="1700" b="1" dirty="0">
                <a:solidFill>
                  <a:srgbClr val="333333"/>
                </a:solidFill>
                <a:latin typeface="Calibri" pitchFamily="34" charset="0"/>
                <a:ea typeface="Calibri" pitchFamily="34" charset="-122"/>
                <a:cs typeface="Calibri" pitchFamily="34" charset="-120"/>
              </a:rPr>
              <a:t>Ca has ~5% on A1</a:t>
            </a:r>
            <a:endParaRPr lang="en-US" sz="1700" dirty="0"/>
          </a:p>
          <a:p>
            <a:pPr marL="0" indent="0" algn="l">
              <a:spcAft>
                <a:spcPts val="1000"/>
              </a:spcAft>
              <a:buNone/>
            </a:pPr>
            <a:r>
              <a:rPr lang="en-US" sz="1700" b="1" dirty="0">
                <a:solidFill>
                  <a:srgbClr val="333333"/>
                </a:solidFill>
                <a:latin typeface="Calibri" pitchFamily="34" charset="0"/>
                <a:ea typeface="Calibri" pitchFamily="34" charset="-122"/>
                <a:cs typeface="Calibri" pitchFamily="34" charset="-120"/>
              </a:rPr>
              <a:t>Meta-prism twist 23.6°</a:t>
            </a:r>
            <a:endParaRPr lang="en-US" sz="1700" dirty="0"/>
          </a:p>
        </p:txBody>
      </p:sp>
      <p:sp>
        <p:nvSpPr>
          <p:cNvPr id="6" name="Text 3"/>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Initial composition Gd8.333Ca1.5(SiO4)6O2</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Large refined Uiso values can flag rattling atoms</a:t>
            </a:r>
            <a:endParaRPr lang="en-US" sz="2400" dirty="0"/>
          </a:p>
        </p:txBody>
      </p:sp>
      <p:sp>
        <p:nvSpPr>
          <p:cNvPr id="4" name="Text 2"/>
          <p:cNvSpPr txBox="1"/>
          <p:nvPr/>
        </p:nvSpPr>
        <p:spPr>
          <a:xfrm>
            <a:off x="640080" y="2194560"/>
            <a:ext cx="4389120" cy="3749040"/>
          </a:xfrm>
          <a:prstGeom prst="rect">
            <a:avLst/>
          </a:prstGeom>
          <a:noFill/>
          <a:ln/>
        </p:spPr>
        <p:txBody>
          <a:bodyPr wrap="square" rtlCol="0" anchor="t"/>
          <a:lstStyle/>
          <a:p>
            <a:pPr marL="152400"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Thermal vibrations are quantitatively studied in Rietveld refinement</a:t>
            </a:r>
            <a:endParaRPr lang="en-US" sz="1700" dirty="0"/>
          </a:p>
          <a:p>
            <a:pPr marL="304800" lvl="1"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Uiso, or Uij for anisotropic vibration</a:t>
            </a:r>
            <a:endParaRPr lang="en-US" sz="1700" dirty="0"/>
          </a:p>
          <a:p>
            <a:pPr marL="152400" indent="-152400" algn="l">
              <a:spcAft>
                <a:spcPts val="1000"/>
              </a:spcAft>
              <a:buSzPct val="100000"/>
              <a:buChar char="•"/>
            </a:pPr>
            <a:r>
              <a:rPr lang="en-US" sz="1700" b="1" dirty="0">
                <a:solidFill>
                  <a:srgbClr val="333333"/>
                </a:solidFill>
                <a:latin typeface="Calibri" pitchFamily="34" charset="0"/>
                <a:ea typeface="Calibri" pitchFamily="34" charset="-122"/>
                <a:cs typeface="Calibri" pitchFamily="34" charset="-120"/>
              </a:rPr>
              <a:t>Large U values could be due to rattling</a:t>
            </a:r>
            <a:endParaRPr lang="en-US" sz="1700" dirty="0"/>
          </a:p>
          <a:p>
            <a:pPr marL="304800" lvl="1" indent="-152400" algn="l">
              <a:spcAft>
                <a:spcPts val="1000"/>
              </a:spcAft>
              <a:buSzPct val="100000"/>
              <a:buChar char="•"/>
            </a:pPr>
            <a:r>
              <a:rPr lang="en-US" sz="1700" dirty="0">
                <a:solidFill>
                  <a:srgbClr val="333333"/>
                </a:solidFill>
                <a:latin typeface="Calibri" pitchFamily="34" charset="0"/>
                <a:ea typeface="Calibri" pitchFamily="34" charset="-122"/>
                <a:cs typeface="Calibri" pitchFamily="34" charset="-120"/>
              </a:rPr>
              <a:t>An explanation of RE2SrAl2O7 thermal conductivity?</a:t>
            </a:r>
            <a:endParaRPr lang="en-US" sz="1700" dirty="0"/>
          </a:p>
        </p:txBody>
      </p:sp>
      <p:pic>
        <p:nvPicPr>
          <p:cNvPr id="5" name="Image 0" descr="media_export/image41.png"/>
          <p:cNvPicPr>
            <a:picLocks noChangeAspect="1"/>
          </p:cNvPicPr>
          <p:nvPr/>
        </p:nvPicPr>
        <p:blipFill>
          <a:blip r:embed="rId3"/>
          <a:stretch>
            <a:fillRect/>
          </a:stretch>
        </p:blipFill>
        <p:spPr>
          <a:xfrm>
            <a:off x="5212080" y="2194560"/>
            <a:ext cx="3108960" cy="3108960"/>
          </a:xfrm>
          <a:prstGeom prst="rect">
            <a:avLst/>
          </a:prstGeom>
        </p:spPr>
      </p:pic>
      <p:pic>
        <p:nvPicPr>
          <p:cNvPr id="6" name="Image 1" descr="media_export/image42.png"/>
          <p:cNvPicPr>
            <a:picLocks noChangeAspect="1"/>
          </p:cNvPicPr>
          <p:nvPr/>
        </p:nvPicPr>
        <p:blipFill>
          <a:blip r:embed="rId4"/>
          <a:stretch>
            <a:fillRect/>
          </a:stretch>
        </p:blipFill>
        <p:spPr>
          <a:xfrm>
            <a:off x="8412480" y="2318212"/>
            <a:ext cx="3566160" cy="286165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Occupancy and Uiso trends track across the RE2SrAl2O7 series</a:t>
            </a:r>
            <a:endParaRPr lang="en-US" sz="2400" dirty="0"/>
          </a:p>
        </p:txBody>
      </p:sp>
      <p:pic>
        <p:nvPicPr>
          <p:cNvPr id="4" name="Image 0" descr="media_export/image43.png"/>
          <p:cNvPicPr>
            <a:picLocks noChangeAspect="1"/>
          </p:cNvPicPr>
          <p:nvPr/>
        </p:nvPicPr>
        <p:blipFill>
          <a:blip r:embed="rId3"/>
          <a:stretch>
            <a:fillRect/>
          </a:stretch>
        </p:blipFill>
        <p:spPr>
          <a:xfrm>
            <a:off x="1338891" y="1097280"/>
            <a:ext cx="4454539" cy="3383280"/>
          </a:xfrm>
          <a:prstGeom prst="rect">
            <a:avLst/>
          </a:prstGeom>
        </p:spPr>
      </p:pic>
      <p:pic>
        <p:nvPicPr>
          <p:cNvPr id="5" name="Image 1" descr="media_export/image44.png"/>
          <p:cNvPicPr>
            <a:picLocks noChangeAspect="1"/>
          </p:cNvPicPr>
          <p:nvPr/>
        </p:nvPicPr>
        <p:blipFill>
          <a:blip r:embed="rId4"/>
          <a:stretch>
            <a:fillRect/>
          </a:stretch>
        </p:blipFill>
        <p:spPr>
          <a:xfrm>
            <a:off x="7311482" y="1097280"/>
            <a:ext cx="3939355" cy="3383280"/>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40080" y="4709160"/>
          <a:ext cx="10881360" cy="1536192"/>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tblGrid>
              <a:tr h="38404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Composition</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A7E7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La2SrAl2O7</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A7E7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Nd2SrAl2O7</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A7E7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Sm2SrAl2O7</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A7E7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Eu2SrAl2O7</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A7E7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Gd2SrAl2O7</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A7E7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Dy2SrAl2O7</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A7E7B"/>
                    </a:solidFill>
                  </a:tcPr>
                </a:tc>
                <a:extLst>
                  <a:ext uri="{0D108BD9-81ED-4DB2-BD59-A6C34878D82A}">
                    <a16:rowId xmlns:a16="http://schemas.microsoft.com/office/drawing/2014/main" val="10000"/>
                  </a:ext>
                </a:extLst>
              </a:tr>
              <a:tr h="384048">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Uiso A1</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0.11(2)</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0.21(5)</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0.40(3)</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0.20(1)</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0.37(3)</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0.96(2)</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A1 (P2) occupancy</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.73</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.54</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.43</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.32</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.21</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A2 (RS) occupancy</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.27</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.56</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.67</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.72</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.79</a:t>
                      </a:r>
                      <a:endParaRPr lang="en-US" sz="1250" dirty="0">
                        <a:latin typeface="Calibri" charset="0"/>
                        <a:ea typeface="Calibri" charset="0"/>
                        <a:cs typeface="Calibri" charset="0"/>
                      </a:endParaRPr>
                    </a:p>
                  </a:txBody>
                  <a:tcPr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Texture is obvious by eye; Rietveld puts a number on it</a:t>
            </a:r>
            <a:endParaRPr lang="en-US" sz="2400" dirty="0"/>
          </a:p>
        </p:txBody>
      </p:sp>
      <p:pic>
        <p:nvPicPr>
          <p:cNvPr id="4" name="Image 0" descr="media_export/image45.png"/>
          <p:cNvPicPr>
            <a:picLocks noChangeAspect="1"/>
          </p:cNvPicPr>
          <p:nvPr/>
        </p:nvPicPr>
        <p:blipFill>
          <a:blip r:embed="rId3"/>
          <a:stretch>
            <a:fillRect/>
          </a:stretch>
        </p:blipFill>
        <p:spPr>
          <a:xfrm>
            <a:off x="2937510" y="1097280"/>
            <a:ext cx="6286500" cy="5029200"/>
          </a:xfrm>
          <a:prstGeom prst="rect">
            <a:avLst/>
          </a:prstGeom>
        </p:spPr>
      </p:pic>
      <p:sp>
        <p:nvSpPr>
          <p:cNvPr id="5"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Sr2Nb2O7: clearly textured to the b-axis, but what is the preferred orientation factor?</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March-Dollase refinement gives Sr2Nb2O7 a texture index of 5.52</a:t>
            </a:r>
            <a:endParaRPr lang="en-US" sz="2400" dirty="0"/>
          </a:p>
        </p:txBody>
      </p:sp>
      <p:pic>
        <p:nvPicPr>
          <p:cNvPr id="4" name="Image 0" descr="media_export/image46.png"/>
          <p:cNvPicPr>
            <a:picLocks noChangeAspect="1"/>
          </p:cNvPicPr>
          <p:nvPr/>
        </p:nvPicPr>
        <p:blipFill>
          <a:blip r:embed="rId3"/>
          <a:stretch>
            <a:fillRect/>
          </a:stretch>
        </p:blipFill>
        <p:spPr>
          <a:xfrm>
            <a:off x="866481" y="1143000"/>
            <a:ext cx="6862398" cy="5212080"/>
          </a:xfrm>
          <a:prstGeom prst="rect">
            <a:avLst/>
          </a:prstGeom>
        </p:spPr>
      </p:pic>
      <p:sp>
        <p:nvSpPr>
          <p:cNvPr id="5" name="Text 2"/>
          <p:cNvSpPr txBox="1"/>
          <p:nvPr/>
        </p:nvSpPr>
        <p:spPr>
          <a:xfrm>
            <a:off x="8321040" y="1554480"/>
            <a:ext cx="3474720" cy="1371600"/>
          </a:xfrm>
          <a:prstGeom prst="rect">
            <a:avLst/>
          </a:prstGeom>
          <a:noFill/>
          <a:ln/>
        </p:spPr>
        <p:txBody>
          <a:bodyPr wrap="square" rtlCol="0" anchor="t"/>
          <a:lstStyle/>
          <a:p>
            <a:pPr marL="0" indent="0" algn="l">
              <a:spcAft>
                <a:spcPts val="1000"/>
              </a:spcAft>
              <a:buNone/>
            </a:pPr>
            <a:r>
              <a:rPr lang="en-US" sz="1800" dirty="0">
                <a:solidFill>
                  <a:srgbClr val="A05F74"/>
                </a:solidFill>
                <a:latin typeface="Calibri" pitchFamily="34" charset="0"/>
                <a:ea typeface="Calibri" pitchFamily="34" charset="-122"/>
                <a:cs typeface="Calibri" pitchFamily="34" charset="-120"/>
              </a:rPr>
              <a:t>Rwp = 6.9%</a:t>
            </a:r>
            <a:endParaRPr lang="en-US" sz="1800" dirty="0"/>
          </a:p>
          <a:p>
            <a:pPr marL="0" indent="0" algn="l">
              <a:spcAft>
                <a:spcPts val="1000"/>
              </a:spcAft>
              <a:buNone/>
            </a:pPr>
            <a:r>
              <a:rPr lang="en-US" sz="1800" b="1" dirty="0">
                <a:solidFill>
                  <a:srgbClr val="333333"/>
                </a:solidFill>
                <a:latin typeface="Calibri" pitchFamily="34" charset="0"/>
                <a:ea typeface="Calibri" pitchFamily="34" charset="-122"/>
                <a:cs typeface="Calibri" pitchFamily="34" charset="-120"/>
              </a:rPr>
              <a:t>Texture index = 5.52</a:t>
            </a:r>
            <a:endParaRPr lang="en-US" sz="1800" dirty="0"/>
          </a:p>
        </p:txBody>
      </p:sp>
      <p:sp>
        <p:nvSpPr>
          <p:cNvPr id="6" name="Text 3"/>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Note: the actual compound had a small amount of La3+ doped on the Sr2+ site</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Calibrate the instrument first; leftover broadening is your sample</a:t>
            </a:r>
            <a:endParaRPr lang="en-US" sz="2400" dirty="0"/>
          </a:p>
        </p:txBody>
      </p:sp>
      <p:sp>
        <p:nvSpPr>
          <p:cNvPr id="4" name="Text 2"/>
          <p:cNvSpPr txBox="1"/>
          <p:nvPr/>
        </p:nvSpPr>
        <p:spPr>
          <a:xfrm>
            <a:off x="640080" y="1371600"/>
            <a:ext cx="5486400" cy="4937760"/>
          </a:xfrm>
          <a:prstGeom prst="rect">
            <a:avLst/>
          </a:prstGeom>
          <a:noFill/>
          <a:ln/>
        </p:spPr>
        <p:txBody>
          <a:bodyPr wrap="square" rtlCol="0" anchor="t"/>
          <a:lstStyle/>
          <a:p>
            <a:pPr marL="152400"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Characterize instrument shape parameters using a standard</a:t>
            </a:r>
            <a:endParaRPr lang="en-US" sz="1600" dirty="0"/>
          </a:p>
          <a:p>
            <a:pPr marL="152400"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Then U, V, W give the integral breadth for Scherrer and Stokes analysis</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Dv = Kλ / (β cosθ)</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ε = β / (4 tanθ)</a:t>
            </a:r>
            <a:endParaRPr lang="en-US" sz="1600" dirty="0"/>
          </a:p>
          <a:p>
            <a:pPr marL="304800" lvl="1" indent="-152400" algn="l">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(βobs − βinst) cosθ = λ/Dv + 4ε sinθ</a:t>
            </a:r>
            <a:endParaRPr lang="en-US" sz="1600" dirty="0"/>
          </a:p>
          <a:p>
            <a:pPr marL="152400" indent="-152400" algn="l">
              <a:spcAft>
                <a:spcPts val="1000"/>
              </a:spcAft>
              <a:buSzPct val="100000"/>
              <a:buChar char="•"/>
            </a:pPr>
            <a:r>
              <a:rPr lang="en-US" sz="1600" b="1" dirty="0">
                <a:solidFill>
                  <a:srgbClr val="333333"/>
                </a:solidFill>
                <a:latin typeface="Calibri" pitchFamily="34" charset="0"/>
                <a:ea typeface="Calibri" pitchFamily="34" charset="-122"/>
                <a:cs typeface="Calibri" pitchFamily="34" charset="-120"/>
              </a:rPr>
              <a:t>Williamson-Hall: plot βcosθ/λ vs 4sinθ; slope and intercept give strain and size</a:t>
            </a:r>
            <a:endParaRPr lang="en-US" sz="1600" dirty="0"/>
          </a:p>
        </p:txBody>
      </p:sp>
      <p:pic>
        <p:nvPicPr>
          <p:cNvPr id="5" name="Image 0" descr="media_export/image47.png"/>
          <p:cNvPicPr>
            <a:picLocks noChangeAspect="1"/>
          </p:cNvPicPr>
          <p:nvPr/>
        </p:nvPicPr>
        <p:blipFill>
          <a:blip r:embed="rId3"/>
          <a:stretch>
            <a:fillRect/>
          </a:stretch>
        </p:blipFill>
        <p:spPr>
          <a:xfrm>
            <a:off x="6807567" y="1280160"/>
            <a:ext cx="4581427" cy="49377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Micronized CeO2 refines to 226 Angstrom domains and 0.011% strain</a:t>
            </a:r>
            <a:endParaRPr lang="en-US" sz="2400" dirty="0"/>
          </a:p>
        </p:txBody>
      </p:sp>
      <p:pic>
        <p:nvPicPr>
          <p:cNvPr id="4" name="Image 0" descr="media_export/image48.png"/>
          <p:cNvPicPr>
            <a:picLocks noChangeAspect="1"/>
          </p:cNvPicPr>
          <p:nvPr/>
        </p:nvPicPr>
        <p:blipFill>
          <a:blip r:embed="rId3"/>
          <a:stretch>
            <a:fillRect/>
          </a:stretch>
        </p:blipFill>
        <p:spPr>
          <a:xfrm>
            <a:off x="457200" y="1367494"/>
            <a:ext cx="5669280" cy="4305892"/>
          </a:xfrm>
          <a:prstGeom prst="rect">
            <a:avLst/>
          </a:prstGeom>
        </p:spPr>
      </p:pic>
      <p:pic>
        <p:nvPicPr>
          <p:cNvPr id="5" name="Image 1" descr="media_export/image49.png"/>
          <p:cNvPicPr>
            <a:picLocks noChangeAspect="1"/>
          </p:cNvPicPr>
          <p:nvPr/>
        </p:nvPicPr>
        <p:blipFill>
          <a:blip r:embed="rId4"/>
          <a:stretch>
            <a:fillRect/>
          </a:stretch>
        </p:blipFill>
        <p:spPr>
          <a:xfrm>
            <a:off x="6126480" y="1367494"/>
            <a:ext cx="5669280" cy="4305892"/>
          </a:xfrm>
          <a:prstGeom prst="rect">
            <a:avLst/>
          </a:prstGeom>
        </p:spPr>
      </p:pic>
      <p:sp>
        <p:nvSpPr>
          <p:cNvPr id="6" name="Text 2"/>
          <p:cNvSpPr txBox="1"/>
          <p:nvPr/>
        </p:nvSpPr>
        <p:spPr>
          <a:xfrm>
            <a:off x="411480" y="6473952"/>
            <a:ext cx="11368735" cy="292608"/>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CeO2 before and after micronizing; volume-weighted domain size Dv = 226 A, maximum strain e = 0.011%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2A7E7B"/>
          </a:solidFill>
          <a:ln/>
        </p:spPr>
        <p:txBody>
          <a:bodyPr/>
          <a:lstStyle/>
          <a:p>
            <a:endParaRPr lang="en-US"/>
          </a:p>
        </p:txBody>
      </p:sp>
      <p:sp>
        <p:nvSpPr>
          <p:cNvPr id="3" name="Text 1"/>
          <p:cNvSpPr txBox="1"/>
          <p:nvPr/>
        </p:nvSpPr>
        <p:spPr>
          <a:xfrm>
            <a:off x="411480" y="0"/>
            <a:ext cx="11368735" cy="777240"/>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Calibri" pitchFamily="34" charset="0"/>
                <a:ea typeface="Calibri" pitchFamily="34" charset="-122"/>
                <a:cs typeface="Calibri" pitchFamily="34" charset="-120"/>
              </a:rPr>
              <a:t>Rietveld refinement is a complete quantitative toolkit</a:t>
            </a:r>
            <a:endParaRPr lang="en-US" sz="2400" dirty="0"/>
          </a:p>
        </p:txBody>
      </p:sp>
      <p:sp>
        <p:nvSpPr>
          <p:cNvPr id="4" name="Text 2"/>
          <p:cNvSpPr txBox="1"/>
          <p:nvPr/>
        </p:nvSpPr>
        <p:spPr>
          <a:xfrm>
            <a:off x="731520" y="2044700"/>
            <a:ext cx="6583680" cy="4264660"/>
          </a:xfrm>
          <a:prstGeom prst="rect">
            <a:avLst/>
          </a:prstGeom>
          <a:noFill/>
          <a:ln/>
        </p:spPr>
        <p:txBody>
          <a:bodyPr wrap="square" rtlCol="0" anchor="t"/>
          <a:lstStyle/>
          <a:p>
            <a:pPr marL="152400" indent="-152400" algn="l">
              <a:spcAft>
                <a:spcPts val="1000"/>
              </a:spcAft>
              <a:buSzPct val="100000"/>
              <a:buChar char="•"/>
            </a:pPr>
            <a:r>
              <a:rPr lang="en-US" sz="1800" b="1" dirty="0">
                <a:solidFill>
                  <a:srgbClr val="333333"/>
                </a:solidFill>
                <a:latin typeface="Calibri" pitchFamily="34" charset="0"/>
                <a:ea typeface="Calibri" pitchFamily="34" charset="-122"/>
                <a:cs typeface="Calibri" pitchFamily="34" charset="-120"/>
              </a:rPr>
              <a:t>Crystal structure information</a:t>
            </a:r>
            <a:endParaRPr lang="en-US" sz="1800" dirty="0"/>
          </a:p>
          <a:p>
            <a:pPr marL="304800" lvl="1"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Atomic positions, thermal displacement parameters, occupancy</a:t>
            </a:r>
            <a:endParaRPr lang="en-US" sz="1800" dirty="0"/>
          </a:p>
          <a:p>
            <a:pPr marL="152400" indent="-152400" algn="l">
              <a:spcAft>
                <a:spcPts val="1000"/>
              </a:spcAft>
              <a:buSzPct val="100000"/>
              <a:buChar char="•"/>
            </a:pPr>
            <a:r>
              <a:rPr lang="en-US" sz="1800" b="1" dirty="0">
                <a:solidFill>
                  <a:srgbClr val="333333"/>
                </a:solidFill>
                <a:latin typeface="Calibri" pitchFamily="34" charset="0"/>
                <a:ea typeface="Calibri" pitchFamily="34" charset="-122"/>
                <a:cs typeface="Calibri" pitchFamily="34" charset="-120"/>
              </a:rPr>
              <a:t>Beyond the average structure</a:t>
            </a:r>
            <a:endParaRPr lang="en-US" sz="1800" dirty="0"/>
          </a:p>
          <a:p>
            <a:pPr marL="304800" lvl="1"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Preferred orientation, size, strain, quantitative phase analysis (including amorphous material)</a:t>
            </a:r>
            <a:endParaRPr lang="en-US" sz="1800" dirty="0"/>
          </a:p>
          <a:p>
            <a:pPr marL="152400" indent="-152400" algn="l">
              <a:spcAft>
                <a:spcPts val="1000"/>
              </a:spcAft>
              <a:buSzPct val="100000"/>
              <a:buChar char="•"/>
            </a:pPr>
            <a:r>
              <a:rPr lang="en-US" sz="1800" b="1" dirty="0">
                <a:solidFill>
                  <a:srgbClr val="333333"/>
                </a:solidFill>
                <a:latin typeface="Calibri" pitchFamily="34" charset="0"/>
                <a:ea typeface="Calibri" pitchFamily="34" charset="-122"/>
                <a:cs typeface="Calibri" pitchFamily="34" charset="-120"/>
              </a:rPr>
              <a:t>And remember</a:t>
            </a:r>
            <a:endParaRPr lang="en-US" sz="1800" dirty="0"/>
          </a:p>
          <a:p>
            <a:pPr marL="304800" lvl="1"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Judge fits with the profile plot and chemical sense, not Rwp alone</a:t>
            </a:r>
            <a:endParaRPr lang="en-US" sz="1800" dirty="0"/>
          </a:p>
          <a:p>
            <a:pPr marL="304800" lvl="1" indent="-152400" algn="l">
              <a:spcAft>
                <a:spcPts val="1000"/>
              </a:spcAft>
              <a:buSzPct val="100000"/>
              <a:buChar char="•"/>
            </a:pPr>
            <a:r>
              <a:rPr lang="en-US" sz="1800" dirty="0">
                <a:solidFill>
                  <a:srgbClr val="333333"/>
                </a:solidFill>
                <a:latin typeface="Calibri" pitchFamily="34" charset="0"/>
                <a:ea typeface="Calibri" pitchFamily="34" charset="-122"/>
                <a:cs typeface="Calibri" pitchFamily="34" charset="-120"/>
              </a:rPr>
              <a:t>Turn parameters on in a correlation-aware order</a:t>
            </a:r>
            <a:endParaRPr lang="en-US" sz="1800" dirty="0"/>
          </a:p>
        </p:txBody>
      </p:sp>
      <p:pic>
        <p:nvPicPr>
          <p:cNvPr id="5" name="Image 0" descr="figs/fig_corr.png"/>
          <p:cNvPicPr>
            <a:picLocks noChangeAspect="1"/>
          </p:cNvPicPr>
          <p:nvPr/>
        </p:nvPicPr>
        <p:blipFill>
          <a:blip r:embed="rId3"/>
          <a:stretch>
            <a:fillRect/>
          </a:stretch>
        </p:blipFill>
        <p:spPr>
          <a:xfrm>
            <a:off x="7589520" y="1920092"/>
            <a:ext cx="4206240" cy="356645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Divider band"/>
          <p:cNvSpPr/>
          <p:nvPr/>
        </p:nvSpPr>
        <p:spPr>
          <a:xfrm>
            <a:off x="0" y="2157984"/>
            <a:ext cx="5806440" cy="182880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ivider title"/>
          <p:cNvSpPr txBox="1"/>
          <p:nvPr/>
        </p:nvSpPr>
        <p:spPr>
          <a:xfrm>
            <a:off x="457200" y="2157984"/>
            <a:ext cx="5120640" cy="1828800"/>
          </a:xfrm>
          <a:prstGeom prst="rect">
            <a:avLst/>
          </a:prstGeom>
          <a:noFill/>
        </p:spPr>
        <p:txBody>
          <a:bodyPr wrap="square" lIns="0" tIns="0" rIns="0" bIns="0" anchor="ctr">
            <a:spAutoFit/>
          </a:bodyPr>
          <a:lstStyle/>
          <a:p>
            <a:pPr algn="l">
              <a:spcAft>
                <a:spcPts val="600"/>
              </a:spcAft>
            </a:pPr>
            <a:r>
              <a:rPr sz="3400" b="1" i="0">
                <a:solidFill>
                  <a:srgbClr val="FFFFFF"/>
                </a:solidFill>
                <a:latin typeface="Calibri"/>
              </a:rPr>
              <a:t>A second track: scripted and AI-assisted Rietveld</a:t>
            </a:r>
          </a:p>
        </p:txBody>
      </p:sp>
      <p:sp>
        <p:nvSpPr>
          <p:cNvPr id="4" name="Divider subtitle"/>
          <p:cNvSpPr txBox="1"/>
          <p:nvPr/>
        </p:nvSpPr>
        <p:spPr>
          <a:xfrm>
            <a:off x="457200" y="4343400"/>
            <a:ext cx="5303520" cy="1463040"/>
          </a:xfrm>
          <a:prstGeom prst="rect">
            <a:avLst/>
          </a:prstGeom>
          <a:noFill/>
        </p:spPr>
        <p:txBody>
          <a:bodyPr wrap="square" lIns="0" tIns="0" rIns="0" bIns="0" anchor="t">
            <a:spAutoFit/>
          </a:bodyPr>
          <a:lstStyle/>
          <a:p>
            <a:pPr algn="l">
              <a:spcAft>
                <a:spcPts val="600"/>
              </a:spcAft>
            </a:pPr>
            <a:r>
              <a:rPr sz="1700" b="0" i="0">
                <a:solidFill>
                  <a:srgbClr val="333333"/>
                </a:solidFill>
                <a:latin typeface="Calibri"/>
              </a:rPr>
              <a:t>Same data, same physics, written as a script that you can rerun, diff and share</a:t>
            </a:r>
          </a:p>
          <a:p>
            <a:pPr algn="l">
              <a:spcAft>
                <a:spcPts val="600"/>
              </a:spcAft>
            </a:pPr>
            <a:r>
              <a:rPr sz="1500" b="0" i="0">
                <a:solidFill>
                  <a:srgbClr val="777777"/>
                </a:solidFill>
                <a:latin typeface="Calibri"/>
              </a:rPr>
              <a:t>rietx (rietx.org), cross-checked against GSAS-II on every workshop dataset</a:t>
            </a:r>
          </a:p>
        </p:txBody>
      </p:sp>
      <p:pic>
        <p:nvPicPr>
          <p:cNvPr id="5" name="rietx fit of Co3O4 at 25 C" descr="divider_fit.png"/>
          <p:cNvPicPr>
            <a:picLocks noChangeAspect="1"/>
          </p:cNvPicPr>
          <p:nvPr/>
        </p:nvPicPr>
        <p:blipFill>
          <a:blip r:embed="rId3"/>
          <a:stretch>
            <a:fillRect/>
          </a:stretch>
        </p:blipFill>
        <p:spPr>
          <a:xfrm>
            <a:off x="5943600" y="685800"/>
            <a:ext cx="6139828" cy="54864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bar"/>
          <p:cNvSpPr/>
          <p:nvPr/>
        </p:nvSpPr>
        <p:spPr>
          <a:xfrm>
            <a:off x="0" y="0"/>
            <a:ext cx="12192000" cy="77724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p:cNvSpPr txBox="1"/>
          <p:nvPr/>
        </p:nvSpPr>
        <p:spPr>
          <a:xfrm>
            <a:off x="411480" y="0"/>
            <a:ext cx="11368735" cy="777240"/>
          </a:xfrm>
          <a:prstGeom prst="rect">
            <a:avLst/>
          </a:prstGeom>
          <a:noFill/>
        </p:spPr>
        <p:txBody>
          <a:bodyPr wrap="square" lIns="0" tIns="0" rIns="0" bIns="0" anchor="ctr">
            <a:spAutoFit/>
          </a:bodyPr>
          <a:lstStyle/>
          <a:p>
            <a:pPr algn="l">
              <a:spcAft>
                <a:spcPts val="600"/>
              </a:spcAft>
            </a:pPr>
            <a:r>
              <a:rPr sz="2400" b="1" i="0">
                <a:solidFill>
                  <a:srgbClr val="FFFFFF"/>
                </a:solidFill>
                <a:latin typeface="Calibri"/>
              </a:rPr>
              <a:t>Manual and scripted refinement are good at different things</a:t>
            </a:r>
          </a:p>
        </p:txBody>
      </p:sp>
      <p:sp>
        <p:nvSpPr>
          <p:cNvPr id="4" name="Rounded Rectangle 3"/>
          <p:cNvSpPr/>
          <p:nvPr/>
        </p:nvSpPr>
        <p:spPr>
          <a:xfrm>
            <a:off x="640080" y="1143000"/>
            <a:ext cx="5349240" cy="4160520"/>
          </a:xfrm>
          <a:prstGeom prst="roundRect">
            <a:avLst>
              <a:gd name="adj" fmla="val 2000"/>
            </a:avLst>
          </a:prstGeom>
          <a:solidFill>
            <a:srgbClr val="F7F7F7"/>
          </a:solidFill>
          <a:ln w="25400">
            <a:solidFill>
              <a:srgbClr val="1A2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344168"/>
            <a:ext cx="4892040" cy="3794760"/>
          </a:xfrm>
          <a:prstGeom prst="rect">
            <a:avLst/>
          </a:prstGeom>
          <a:noFill/>
        </p:spPr>
        <p:txBody>
          <a:bodyPr wrap="square" lIns="0" tIns="0" rIns="0" bIns="0" anchor="t">
            <a:spAutoFit/>
          </a:bodyPr>
          <a:lstStyle/>
          <a:p>
            <a:pPr algn="l">
              <a:spcAft>
                <a:spcPts val="200"/>
              </a:spcAft>
            </a:pPr>
            <a:r>
              <a:rPr sz="1900" b="1" i="0">
                <a:solidFill>
                  <a:srgbClr val="1A2744"/>
                </a:solidFill>
                <a:latin typeface="Calibri"/>
              </a:rPr>
              <a:t>Manual: GSAS-II GUI</a:t>
            </a:r>
          </a:p>
          <a:p>
            <a:pPr algn="l">
              <a:spcAft>
                <a:spcPts val="1200"/>
              </a:spcAft>
            </a:pPr>
            <a:r>
              <a:rPr sz="1300" b="0" i="1">
                <a:solidFill>
                  <a:srgbClr val="777777"/>
                </a:solidFill>
                <a:latin typeface="Calibri"/>
              </a:rPr>
              <a:t>you click each parameter on</a:t>
            </a:r>
          </a:p>
          <a:p>
            <a:pPr algn="l">
              <a:spcAft>
                <a:spcPts val="400"/>
              </a:spcAft>
            </a:pPr>
            <a:r>
              <a:rPr sz="1400" b="1" i="0">
                <a:solidFill>
                  <a:srgbClr val="1E6542"/>
                </a:solidFill>
                <a:latin typeface="Calibri"/>
              </a:rPr>
              <a:t>Strengths</a:t>
            </a:r>
          </a:p>
          <a:p>
            <a:pPr algn="l">
              <a:spcAft>
                <a:spcPts val="600"/>
              </a:spcAft>
            </a:pPr>
            <a:r>
              <a:rPr sz="1500" b="0" i="0">
                <a:solidFill>
                  <a:srgbClr val="333333"/>
                </a:solidFill>
                <a:latin typeface="Calibri"/>
              </a:rPr>
              <a:t>+  Builds intuition: every change shows up in the plot</a:t>
            </a:r>
          </a:p>
          <a:p>
            <a:pPr algn="l">
              <a:spcAft>
                <a:spcPts val="600"/>
              </a:spcAft>
            </a:pPr>
            <a:r>
              <a:rPr sz="1500" b="0" i="0">
                <a:solidFill>
                  <a:srgbClr val="333333"/>
                </a:solidFill>
                <a:latin typeface="Calibri"/>
              </a:rPr>
              <a:t>+  Huge scope: single crystal, magnetic, TOF, rigid bodies</a:t>
            </a:r>
          </a:p>
          <a:p>
            <a:pPr algn="l">
              <a:spcAft>
                <a:spcPts val="1200"/>
              </a:spcAft>
            </a:pPr>
            <a:r>
              <a:rPr sz="1500" b="0" i="0">
                <a:solidFill>
                  <a:srgbClr val="333333"/>
                </a:solidFill>
                <a:latin typeface="Calibri"/>
              </a:rPr>
              <a:t>+  Your judgment is in every step</a:t>
            </a:r>
          </a:p>
          <a:p>
            <a:pPr algn="l">
              <a:spcAft>
                <a:spcPts val="400"/>
              </a:spcAft>
            </a:pPr>
            <a:r>
              <a:rPr sz="1400" b="1" i="0">
                <a:solidFill>
                  <a:srgbClr val="A05F74"/>
                </a:solidFill>
                <a:latin typeface="Calibri"/>
              </a:rPr>
              <a:t>Watch out for</a:t>
            </a:r>
          </a:p>
          <a:p>
            <a:pPr algn="l">
              <a:spcAft>
                <a:spcPts val="600"/>
              </a:spcAft>
            </a:pPr>
            <a:r>
              <a:rPr sz="1500" b="0" i="0">
                <a:solidFill>
                  <a:srgbClr val="333333"/>
                </a:solidFill>
                <a:latin typeface="Calibri"/>
              </a:rPr>
              <a:t>−  Hard to reproduce: the protocol lives in your head</a:t>
            </a:r>
          </a:p>
          <a:p>
            <a:pPr algn="l">
              <a:spcAft>
                <a:spcPts val="600"/>
              </a:spcAft>
            </a:pPr>
            <a:r>
              <a:rPr sz="1500" b="0" i="0">
                <a:solidFill>
                  <a:srgbClr val="333333"/>
                </a:solidFill>
                <a:latin typeface="Calibri"/>
              </a:rPr>
              <a:t>−  Slow for series and batches</a:t>
            </a:r>
          </a:p>
          <a:p>
            <a:pPr algn="l">
              <a:spcAft>
                <a:spcPts val="600"/>
              </a:spcAft>
            </a:pPr>
            <a:r>
              <a:rPr sz="1500" b="0" i="0">
                <a:solidFill>
                  <a:srgbClr val="333333"/>
                </a:solidFill>
                <a:latin typeface="Calibri"/>
              </a:rPr>
              <a:t>−  Easy to accept a fit that looks good (negative B, masked regions)</a:t>
            </a:r>
          </a:p>
        </p:txBody>
      </p:sp>
      <p:sp>
        <p:nvSpPr>
          <p:cNvPr id="6" name="Rounded Rectangle 5"/>
          <p:cNvSpPr/>
          <p:nvPr/>
        </p:nvSpPr>
        <p:spPr>
          <a:xfrm>
            <a:off x="6199632" y="1143000"/>
            <a:ext cx="5349240" cy="4160520"/>
          </a:xfrm>
          <a:prstGeom prst="roundRect">
            <a:avLst>
              <a:gd name="adj" fmla="val 2000"/>
            </a:avLst>
          </a:prstGeom>
          <a:solidFill>
            <a:srgbClr val="F7F7F7"/>
          </a:solidFill>
          <a:ln w="25400">
            <a:solidFill>
              <a:srgbClr val="2A7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344168"/>
            <a:ext cx="4892040" cy="3794760"/>
          </a:xfrm>
          <a:prstGeom prst="rect">
            <a:avLst/>
          </a:prstGeom>
          <a:noFill/>
        </p:spPr>
        <p:txBody>
          <a:bodyPr wrap="square" lIns="0" tIns="0" rIns="0" bIns="0" anchor="t">
            <a:spAutoFit/>
          </a:bodyPr>
          <a:lstStyle/>
          <a:p>
            <a:pPr algn="l">
              <a:spcAft>
                <a:spcPts val="200"/>
              </a:spcAft>
            </a:pPr>
            <a:r>
              <a:rPr sz="1900" b="1" i="0">
                <a:solidFill>
                  <a:srgbClr val="2A7E7B"/>
                </a:solidFill>
                <a:latin typeface="Calibri"/>
              </a:rPr>
              <a:t>Scripted: rietx, optionally driven by an AI</a:t>
            </a:r>
          </a:p>
          <a:p>
            <a:pPr algn="l">
              <a:spcAft>
                <a:spcPts val="1200"/>
              </a:spcAft>
            </a:pPr>
            <a:r>
              <a:rPr sz="1300" b="0" i="1">
                <a:solidFill>
                  <a:srgbClr val="777777"/>
                </a:solidFill>
                <a:latin typeface="Calibri"/>
              </a:rPr>
              <a:t>the refinement is code</a:t>
            </a:r>
          </a:p>
          <a:p>
            <a:pPr algn="l">
              <a:spcAft>
                <a:spcPts val="400"/>
              </a:spcAft>
            </a:pPr>
            <a:r>
              <a:rPr sz="1400" b="1" i="0">
                <a:solidFill>
                  <a:srgbClr val="1E6542"/>
                </a:solidFill>
                <a:latin typeface="Calibri"/>
              </a:rPr>
              <a:t>Strengths</a:t>
            </a:r>
          </a:p>
          <a:p>
            <a:pPr algn="l">
              <a:spcAft>
                <a:spcPts val="600"/>
              </a:spcAft>
            </a:pPr>
            <a:r>
              <a:rPr sz="1500" b="0" i="0">
                <a:solidFill>
                  <a:srgbClr val="333333"/>
                </a:solidFill>
                <a:latin typeface="Calibri"/>
              </a:rPr>
              <a:t>+  Reproducible: rerun, diff, share the whole protocol</a:t>
            </a:r>
          </a:p>
          <a:p>
            <a:pPr algn="l">
              <a:spcAft>
                <a:spcPts val="600"/>
              </a:spcAft>
            </a:pPr>
            <a:r>
              <a:rPr sz="1500" b="0" i="0">
                <a:solidFill>
                  <a:srgbClr val="333333"/>
                </a:solidFill>
                <a:latin typeface="Calibri"/>
              </a:rPr>
              <a:t>+  Scales: 12 in-situ scans refined both ways in about 2 minutes</a:t>
            </a:r>
          </a:p>
          <a:p>
            <a:pPr algn="l">
              <a:spcAft>
                <a:spcPts val="1200"/>
              </a:spcAft>
            </a:pPr>
            <a:r>
              <a:rPr sz="1500" b="0" i="0">
                <a:solidFill>
                  <a:srgbClr val="333333"/>
                </a:solidFill>
                <a:latin typeface="Calibri"/>
              </a:rPr>
              <a:t>+  Diagnostics check every number and say what not to quote</a:t>
            </a:r>
          </a:p>
          <a:p>
            <a:pPr algn="l">
              <a:spcAft>
                <a:spcPts val="400"/>
              </a:spcAft>
            </a:pPr>
            <a:r>
              <a:rPr sz="1400" b="1" i="0">
                <a:solidFill>
                  <a:srgbClr val="A05F74"/>
                </a:solidFill>
                <a:latin typeface="Calibri"/>
              </a:rPr>
              <a:t>Watch out for</a:t>
            </a:r>
          </a:p>
          <a:p>
            <a:pPr algn="l">
              <a:spcAft>
                <a:spcPts val="600"/>
              </a:spcAft>
            </a:pPr>
            <a:r>
              <a:rPr sz="1500" b="0" i="0">
                <a:solidFill>
                  <a:srgbClr val="333333"/>
                </a:solidFill>
                <a:latin typeface="Calibri"/>
              </a:rPr>
              <a:t>−  Follows bad instructions faithfully (reused another instrument's calibration on request)</a:t>
            </a:r>
          </a:p>
          <a:p>
            <a:pPr algn="l">
              <a:spcAft>
                <a:spcPts val="600"/>
              </a:spcAft>
            </a:pPr>
            <a:r>
              <a:rPr sz="1500" b="0" i="0">
                <a:solidFill>
                  <a:srgbClr val="333333"/>
                </a:solidFill>
                <a:latin typeface="Calibri"/>
              </a:rPr>
              <a:t>−  Knows nothing about the specimen: spinning, weighing, milling</a:t>
            </a:r>
          </a:p>
          <a:p>
            <a:pPr algn="l">
              <a:spcAft>
                <a:spcPts val="600"/>
              </a:spcAft>
            </a:pPr>
            <a:r>
              <a:rPr sz="1500" b="0" i="0">
                <a:solidFill>
                  <a:srgbClr val="333333"/>
                </a:solidFill>
                <a:latin typeface="Calibri"/>
              </a:rPr>
              <a:t>−  An AI assistant can sound sure and be wrong</a:t>
            </a:r>
          </a:p>
        </p:txBody>
      </p:sp>
      <p:sp>
        <p:nvSpPr>
          <p:cNvPr id="8" name="TextBox 7"/>
          <p:cNvSpPr txBox="1"/>
          <p:nvPr/>
        </p:nvSpPr>
        <p:spPr>
          <a:xfrm>
            <a:off x="640080" y="5577840"/>
            <a:ext cx="10881360" cy="548640"/>
          </a:xfrm>
          <a:prstGeom prst="rect">
            <a:avLst/>
          </a:prstGeom>
          <a:noFill/>
        </p:spPr>
        <p:txBody>
          <a:bodyPr wrap="square" lIns="0" tIns="0" rIns="0" bIns="0" anchor="t">
            <a:spAutoFit/>
          </a:bodyPr>
          <a:lstStyle/>
          <a:p>
            <a:pPr algn="l">
              <a:spcAft>
                <a:spcPts val="600"/>
              </a:spcAft>
            </a:pPr>
            <a:r>
              <a:rPr sz="1600" b="1" i="0">
                <a:solidFill>
                  <a:srgbClr val="333333"/>
                </a:solidFill>
                <a:latin typeface="Calibri"/>
              </a:rPr>
              <a:t>Learn and explore with GSAS-II; use a script to reproduce, scale up, and get a second opinion.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bar"/>
          <p:cNvSpPr/>
          <p:nvPr/>
        </p:nvSpPr>
        <p:spPr>
          <a:xfrm>
            <a:off x="0" y="0"/>
            <a:ext cx="12192000" cy="77724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p:cNvSpPr txBox="1"/>
          <p:nvPr/>
        </p:nvSpPr>
        <p:spPr>
          <a:xfrm>
            <a:off x="411480" y="0"/>
            <a:ext cx="11368735" cy="777240"/>
          </a:xfrm>
          <a:prstGeom prst="rect">
            <a:avLst/>
          </a:prstGeom>
          <a:noFill/>
        </p:spPr>
        <p:txBody>
          <a:bodyPr wrap="square" lIns="0" tIns="0" rIns="0" bIns="0" anchor="ctr">
            <a:spAutoFit/>
          </a:bodyPr>
          <a:lstStyle/>
          <a:p>
            <a:pPr algn="l">
              <a:spcAft>
                <a:spcPts val="600"/>
              </a:spcAft>
            </a:pPr>
            <a:r>
              <a:rPr sz="2400" b="1" i="0">
                <a:solidFill>
                  <a:srgbClr val="FFFFFF"/>
                </a:solidFill>
                <a:latin typeface="Calibri"/>
              </a:rPr>
              <a:t>A refinement becomes a few lines you can rerun, and every result explains itself</a:t>
            </a:r>
          </a:p>
        </p:txBody>
      </p:sp>
      <p:sp>
        <p:nvSpPr>
          <p:cNvPr id="4" name="Rounded Rectangle 3"/>
          <p:cNvSpPr/>
          <p:nvPr/>
        </p:nvSpPr>
        <p:spPr>
          <a:xfrm>
            <a:off x="640080" y="1143000"/>
            <a:ext cx="5486400" cy="3931920"/>
          </a:xfrm>
          <a:prstGeom prst="roundRect">
            <a:avLst>
              <a:gd name="adj" fmla="val 2000"/>
            </a:avLst>
          </a:prstGeom>
          <a:solidFill>
            <a:srgbClr val="1A2744"/>
          </a:solidFill>
          <a:ln w="25400">
            <a:solidFill>
              <a:srgbClr val="1A2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325880"/>
            <a:ext cx="5120640" cy="4023360"/>
          </a:xfrm>
          <a:prstGeom prst="rect">
            <a:avLst/>
          </a:prstGeom>
          <a:noFill/>
        </p:spPr>
        <p:txBody>
          <a:bodyPr wrap="square" lIns="0" tIns="0" rIns="0" bIns="0" anchor="t">
            <a:spAutoFit/>
          </a:bodyPr>
          <a:lstStyle/>
          <a:p>
            <a:pPr algn="l">
              <a:spcAft>
                <a:spcPts val="100"/>
              </a:spcAft>
            </a:pPr>
            <a:r>
              <a:rPr sz="1400" b="0" i="0">
                <a:solidFill>
                  <a:srgbClr val="FFFFFF"/>
                </a:solidFill>
                <a:latin typeface="Courier New"/>
              </a:rPr>
              <a:t>import rietx as rx</a:t>
            </a:r>
          </a:p>
          <a:p>
            <a:pPr algn="l">
              <a:spcAft>
                <a:spcPts val="100"/>
              </a:spcAft>
            </a:pPr>
            <a:r>
              <a:rPr sz="1400" b="0" i="0">
                <a:solidFill>
                  <a:srgbClr val="FFFFFF"/>
                </a:solidFill>
                <a:latin typeface="Courier New"/>
              </a:rPr>
              <a:t> </a:t>
            </a:r>
          </a:p>
          <a:p>
            <a:pPr algn="l">
              <a:spcAft>
                <a:spcPts val="100"/>
              </a:spcAft>
            </a:pPr>
            <a:r>
              <a:rPr sz="1400" b="0" i="0">
                <a:solidFill>
                  <a:srgbClr val="FFFFFF"/>
                </a:solidFill>
                <a:latin typeface="Courier New"/>
              </a:rPr>
              <a:t>data = rx.read_pattern("LaB6_Jan2018.raw")</a:t>
            </a:r>
          </a:p>
          <a:p>
            <a:pPr algn="l">
              <a:spcAft>
                <a:spcPts val="100"/>
              </a:spcAft>
            </a:pPr>
            <a:r>
              <a:rPr sz="1400" b="0" i="0">
                <a:solidFill>
                  <a:srgbClr val="FFFFFF"/>
                </a:solidFill>
                <a:latin typeface="Courier New"/>
              </a:rPr>
              <a:t>structure = rx.Structure.from_cif("1000055.cif")</a:t>
            </a:r>
          </a:p>
          <a:p>
            <a:pPr algn="l">
              <a:spcAft>
                <a:spcPts val="100"/>
              </a:spcAft>
            </a:pPr>
            <a:r>
              <a:rPr sz="1400" b="0" i="0">
                <a:solidFill>
                  <a:srgbClr val="FFFFFF"/>
                </a:solidFill>
                <a:latin typeface="Courier New"/>
              </a:rPr>
              <a:t>instrument = rx.Instrument.bragg_brentano(</a:t>
            </a:r>
          </a:p>
          <a:p>
            <a:pPr algn="l">
              <a:spcAft>
                <a:spcPts val="100"/>
              </a:spcAft>
            </a:pPr>
            <a:r>
              <a:rPr sz="1400" b="0" i="0">
                <a:solidFill>
                  <a:srgbClr val="FFFFFF"/>
                </a:solidFill>
                <a:latin typeface="Courier New"/>
              </a:rPr>
              <a:t>    radiation="CuKa", goniometer_radius_mm=250)</a:t>
            </a:r>
          </a:p>
          <a:p>
            <a:pPr algn="l">
              <a:spcAft>
                <a:spcPts val="100"/>
              </a:spcAft>
            </a:pPr>
            <a:r>
              <a:rPr sz="1400" b="0" i="0">
                <a:solidFill>
                  <a:srgbClr val="FFFFFF"/>
                </a:solidFill>
                <a:latin typeface="Courier New"/>
              </a:rPr>
              <a:t>instrument.background = rx.auto_background(data)</a:t>
            </a:r>
          </a:p>
          <a:p>
            <a:pPr algn="l">
              <a:spcAft>
                <a:spcPts val="100"/>
              </a:spcAft>
            </a:pPr>
            <a:r>
              <a:rPr sz="1400" b="0" i="0">
                <a:solidFill>
                  <a:srgbClr val="FFFFFF"/>
                </a:solidFill>
                <a:latin typeface="Courier New"/>
              </a:rPr>
              <a:t> </a:t>
            </a:r>
          </a:p>
          <a:p>
            <a:pPr algn="l">
              <a:spcAft>
                <a:spcPts val="100"/>
              </a:spcAft>
            </a:pPr>
            <a:r>
              <a:rPr sz="1400" b="0" i="0">
                <a:solidFill>
                  <a:srgbClr val="FFFFFF"/>
                </a:solidFill>
                <a:latin typeface="Courier New"/>
              </a:rPr>
              <a:t>ref = rx.Refinement(structure, instrument)</a:t>
            </a:r>
          </a:p>
          <a:p>
            <a:pPr algn="l">
              <a:spcAft>
                <a:spcPts val="100"/>
              </a:spcAft>
            </a:pPr>
            <a:r>
              <a:rPr sz="1400" b="0" i="0">
                <a:solidFill>
                  <a:srgbClr val="FFFFFF"/>
                </a:solidFill>
                <a:latin typeface="Courier New"/>
              </a:rPr>
              <a:t>result = ref.fit(data, plan="lab_calibrate")</a:t>
            </a:r>
          </a:p>
          <a:p>
            <a:pPr algn="l">
              <a:spcAft>
                <a:spcPts val="100"/>
              </a:spcAft>
            </a:pPr>
            <a:r>
              <a:rPr sz="1400" b="0" i="0">
                <a:solidFill>
                  <a:srgbClr val="FFFFFF"/>
                </a:solidFill>
                <a:latin typeface="Courier New"/>
              </a:rPr>
              <a:t>print(result)          # fit + diagnostics</a:t>
            </a:r>
          </a:p>
          <a:p>
            <a:pPr algn="l">
              <a:spcAft>
                <a:spcPts val="100"/>
              </a:spcAft>
            </a:pPr>
            <a:r>
              <a:rPr sz="1400" b="0" i="0">
                <a:solidFill>
                  <a:srgbClr val="FFFFFF"/>
                </a:solidFill>
                <a:latin typeface="Courier New"/>
              </a:rPr>
              <a:t>rx.save_instrument_profile(</a:t>
            </a:r>
          </a:p>
          <a:p>
            <a:pPr algn="l">
              <a:spcAft>
                <a:spcPts val="100"/>
              </a:spcAft>
            </a:pPr>
            <a:r>
              <a:rPr sz="1400" b="0" i="0">
                <a:solidFill>
                  <a:srgbClr val="FFFFFF"/>
                </a:solidFill>
                <a:latin typeface="Courier New"/>
              </a:rPr>
              <a:t>    ref.fitted_instrument, "lab_profile.json")</a:t>
            </a:r>
          </a:p>
        </p:txBody>
      </p:sp>
      <p:sp>
        <p:nvSpPr>
          <p:cNvPr id="6" name="Rounded Rectangle 5"/>
          <p:cNvSpPr/>
          <p:nvPr/>
        </p:nvSpPr>
        <p:spPr>
          <a:xfrm>
            <a:off x="6382512" y="1143000"/>
            <a:ext cx="5166360" cy="3931920"/>
          </a:xfrm>
          <a:prstGeom prst="roundRect">
            <a:avLst>
              <a:gd name="adj" fmla="val 2000"/>
            </a:avLst>
          </a:prstGeom>
          <a:solidFill>
            <a:srgbClr val="F7F7F7"/>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11112" y="1325880"/>
            <a:ext cx="4754880" cy="4023360"/>
          </a:xfrm>
          <a:prstGeom prst="rect">
            <a:avLst/>
          </a:prstGeom>
          <a:noFill/>
        </p:spPr>
        <p:txBody>
          <a:bodyPr wrap="square" lIns="0" tIns="0" rIns="0" bIns="0" anchor="t">
            <a:spAutoFit/>
          </a:bodyPr>
          <a:lstStyle/>
          <a:p>
            <a:pPr algn="l">
              <a:spcAft>
                <a:spcPts val="1000"/>
              </a:spcAft>
            </a:pPr>
            <a:r>
              <a:rPr sz="1600" b="1" i="0">
                <a:solidFill>
                  <a:srgbClr val="2A7E7B"/>
                </a:solidFill>
                <a:latin typeface="Calibri"/>
              </a:rPr>
              <a:t>What the first fit printed</a:t>
            </a:r>
          </a:p>
          <a:p>
            <a:pPr algn="l">
              <a:spcAft>
                <a:spcPts val="200"/>
              </a:spcAft>
            </a:pPr>
            <a:r>
              <a:rPr sz="1300" b="1" i="0">
                <a:solidFill>
                  <a:srgbClr val="A05F74"/>
                </a:solidFill>
                <a:latin typeface="Courier New"/>
              </a:rPr>
              <a:t>WARNING BISO_NEGATIVE</a:t>
            </a:r>
          </a:p>
          <a:p>
            <a:pPr algn="l">
              <a:spcAft>
                <a:spcPts val="1000"/>
              </a:spcAft>
            </a:pPr>
            <a:r>
              <a:rPr sz="1300" b="0" i="0">
                <a:solidFill>
                  <a:srgbClr val="333333"/>
                </a:solidFill>
                <a:latin typeface="Calibri"/>
              </a:rPr>
              <a:t>B = −2.4 Å²: the column is standing in for something else (roughness, absorption, a bending background)</a:t>
            </a:r>
          </a:p>
          <a:p>
            <a:pPr algn="l">
              <a:spcAft>
                <a:spcPts val="200"/>
              </a:spcAft>
            </a:pPr>
            <a:r>
              <a:rPr sz="1300" b="1" i="0">
                <a:solidFill>
                  <a:srgbClr val="A05F74"/>
                </a:solidFill>
                <a:latin typeface="Courier New"/>
              </a:rPr>
              <a:t>WARNING FLAT_DIRECTION  axial S/L ~ H/L</a:t>
            </a:r>
          </a:p>
          <a:p>
            <a:pPr algn="l">
              <a:spcAft>
                <a:spcPts val="1000"/>
              </a:spcAft>
            </a:pPr>
            <a:r>
              <a:rPr sz="1300" b="0" i="0">
                <a:solidFill>
                  <a:srgbClr val="333333"/>
                </a:solidFill>
                <a:latin typeface="Calibri"/>
              </a:rPr>
              <a:t>ρ = −1.000: only their combination is measured; fix one</a:t>
            </a:r>
          </a:p>
          <a:p>
            <a:pPr algn="l">
              <a:spcAft>
                <a:spcPts val="200"/>
              </a:spcAft>
            </a:pPr>
            <a:r>
              <a:rPr sz="1300" b="1" i="0">
                <a:solidFill>
                  <a:srgbClr val="A05F74"/>
                </a:solidFill>
                <a:latin typeface="Courier New"/>
              </a:rPr>
              <a:t>WARNING HIGH_CORRELATION  zero ~ displ.</a:t>
            </a:r>
          </a:p>
          <a:p>
            <a:pPr algn="l">
              <a:spcAft>
                <a:spcPts val="1000"/>
              </a:spcAft>
            </a:pPr>
            <a:r>
              <a:rPr sz="1300" b="0" i="0">
                <a:solidFill>
                  <a:srgbClr val="333333"/>
                </a:solidFill>
                <a:latin typeface="Calibri"/>
              </a:rPr>
              <a:t>ρ = +0.999 even with the cell held</a:t>
            </a:r>
          </a:p>
          <a:p>
            <a:pPr algn="l">
              <a:spcAft>
                <a:spcPts val="200"/>
              </a:spcAft>
            </a:pPr>
            <a:r>
              <a:rPr sz="1300" b="1" i="0">
                <a:solidFill>
                  <a:srgbClr val="A05F74"/>
                </a:solidFill>
                <a:latin typeface="Courier New"/>
              </a:rPr>
              <a:t>WARNING PATTERN_UNDERSAMPLED</a:t>
            </a:r>
          </a:p>
          <a:p>
            <a:pPr algn="l">
              <a:spcAft>
                <a:spcPts val="400"/>
              </a:spcAft>
            </a:pPr>
            <a:r>
              <a:rPr sz="1300" b="0" i="0">
                <a:solidFill>
                  <a:srgbClr val="333333"/>
                </a:solidFill>
                <a:latin typeface="Calibri"/>
              </a:rPr>
              <a:t>4.3 steps per FWHM: a data-collection limit no refinement can fix</a:t>
            </a:r>
          </a:p>
        </p:txBody>
      </p:sp>
      <p:sp>
        <p:nvSpPr>
          <p:cNvPr id="8" name="TextBox 7"/>
          <p:cNvSpPr txBox="1"/>
          <p:nvPr/>
        </p:nvSpPr>
        <p:spPr>
          <a:xfrm>
            <a:off x="640080" y="5394960"/>
            <a:ext cx="10881360" cy="822960"/>
          </a:xfrm>
          <a:prstGeom prst="rect">
            <a:avLst/>
          </a:prstGeom>
          <a:noFill/>
        </p:spPr>
        <p:txBody>
          <a:bodyPr wrap="square" lIns="0" tIns="0" rIns="0" bIns="0" anchor="t">
            <a:spAutoFit/>
          </a:bodyPr>
          <a:lstStyle/>
          <a:p>
            <a:pPr algn="l">
              <a:spcAft>
                <a:spcPts val="600"/>
              </a:spcAft>
            </a:pPr>
            <a:r>
              <a:rPr sz="1600" b="1" i="0">
                <a:solidFill>
                  <a:srgbClr val="333333"/>
                </a:solidFill>
                <a:latin typeface="Calibri"/>
              </a:rPr>
              <a:t>Codes, not adjectives: an AI assistant (or a student) can act on each one, and you can check that it did.</a:t>
            </a:r>
          </a:p>
          <a:p>
            <a:pPr algn="l">
              <a:spcAft>
                <a:spcPts val="600"/>
              </a:spcAft>
            </a:pPr>
            <a:r>
              <a:rPr sz="1400" b="0" i="0">
                <a:solidFill>
                  <a:srgbClr val="777777"/>
                </a:solidFill>
                <a:latin typeface="Calibri"/>
              </a:rPr>
              <a:t>Plans encode the turn-on order: lab_calibrate on a standard, then lab_sample_refine on your specimen.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bar"/>
          <p:cNvSpPr/>
          <p:nvPr/>
        </p:nvSpPr>
        <p:spPr>
          <a:xfrm>
            <a:off x="0" y="0"/>
            <a:ext cx="12192000" cy="77724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p:cNvSpPr txBox="1"/>
          <p:nvPr/>
        </p:nvSpPr>
        <p:spPr>
          <a:xfrm>
            <a:off x="411480" y="0"/>
            <a:ext cx="11368735" cy="777240"/>
          </a:xfrm>
          <a:prstGeom prst="rect">
            <a:avLst/>
          </a:prstGeom>
          <a:noFill/>
        </p:spPr>
        <p:txBody>
          <a:bodyPr wrap="square" lIns="0" tIns="0" rIns="0" bIns="0" anchor="ctr">
            <a:spAutoFit/>
          </a:bodyPr>
          <a:lstStyle/>
          <a:p>
            <a:pPr algn="l">
              <a:spcAft>
                <a:spcPts val="600"/>
              </a:spcAft>
            </a:pPr>
            <a:r>
              <a:rPr sz="2400" b="1" i="0">
                <a:solidFill>
                  <a:srgbClr val="FFFFFF"/>
                </a:solidFill>
                <a:latin typeface="Calibri"/>
              </a:rPr>
              <a:t>LaB6: negative B in both codes was really surface roughness</a:t>
            </a:r>
          </a:p>
        </p:txBody>
      </p:sp>
      <p:graphicFrame>
        <p:nvGraphicFramePr>
          <p:cNvPr id="4" name="Chart 3"/>
          <p:cNvGraphicFramePr>
            <a:graphicFrameLocks noGrp="1"/>
          </p:cNvGraphicFramePr>
          <p:nvPr/>
        </p:nvGraphicFramePr>
        <p:xfrm>
          <a:off x="548640" y="1051560"/>
          <a:ext cx="6400800" cy="4572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p:cNvGraphicFramePr>
            <a:graphicFrameLocks noGrp="1"/>
          </p:cNvGraphicFramePr>
          <p:nvPr/>
        </p:nvGraphicFramePr>
        <p:xfrm>
          <a:off x="7269480" y="1188720"/>
          <a:ext cx="4297680" cy="2944368"/>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20624">
                <a:tc>
                  <a:txBody>
                    <a:bodyPr/>
                    <a:lstStyle/>
                    <a:p>
                      <a:r>
                        <a:rPr sz="1300" b="1">
                          <a:solidFill>
                            <a:srgbClr val="FFFFFF"/>
                          </a:solidFill>
                          <a:latin typeface="Calibri"/>
                        </a:rPr>
                        <a:t>Same held cell (4.15695 Å)</a:t>
                      </a:r>
                    </a:p>
                  </a:txBody>
                  <a:tcPr marL="73152" marR="73152" marT="36576" marB="36576" anchor="ctr">
                    <a:solidFill>
                      <a:srgbClr val="2A7E7B"/>
                    </a:solidFill>
                  </a:tcPr>
                </a:tc>
                <a:tc>
                  <a:txBody>
                    <a:bodyPr/>
                    <a:lstStyle/>
                    <a:p>
                      <a:r>
                        <a:rPr sz="1300" b="1">
                          <a:solidFill>
                            <a:srgbClr val="FFFFFF"/>
                          </a:solidFill>
                          <a:latin typeface="Calibri"/>
                        </a:rPr>
                        <a:t>GSAS-II</a:t>
                      </a:r>
                    </a:p>
                  </a:txBody>
                  <a:tcPr marL="73152" marR="73152" marT="36576" marB="36576" anchor="ctr">
                    <a:solidFill>
                      <a:srgbClr val="2A7E7B"/>
                    </a:solidFill>
                  </a:tcPr>
                </a:tc>
                <a:tc>
                  <a:txBody>
                    <a:bodyPr/>
                    <a:lstStyle/>
                    <a:p>
                      <a:r>
                        <a:rPr sz="1300" b="1">
                          <a:solidFill>
                            <a:srgbClr val="FFFFFF"/>
                          </a:solidFill>
                          <a:latin typeface="Calibri"/>
                        </a:rPr>
                        <a:t>rietx</a:t>
                      </a:r>
                    </a:p>
                  </a:txBody>
                  <a:tcPr marL="73152" marR="73152" marT="36576" marB="36576" anchor="ctr">
                    <a:solidFill>
                      <a:srgbClr val="2A7E7B"/>
                    </a:solidFill>
                  </a:tcPr>
                </a:tc>
                <a:extLst>
                  <a:ext uri="{0D108BD9-81ED-4DB2-BD59-A6C34878D82A}">
                    <a16:rowId xmlns:a16="http://schemas.microsoft.com/office/drawing/2014/main" val="10000"/>
                  </a:ext>
                </a:extLst>
              </a:tr>
              <a:tr h="420624">
                <a:tc>
                  <a:txBody>
                    <a:bodyPr/>
                    <a:lstStyle/>
                    <a:p>
                      <a:r>
                        <a:rPr sz="1300" b="1">
                          <a:solidFill>
                            <a:srgbClr val="333333"/>
                          </a:solidFill>
                          <a:latin typeface="Calibri"/>
                        </a:rPr>
                        <a:t>Biso La, B (Å²)</a:t>
                      </a:r>
                    </a:p>
                  </a:txBody>
                  <a:tcPr marL="73152" marR="73152" marT="36576" marB="36576" anchor="ctr">
                    <a:solidFill>
                      <a:srgbClr val="F7F7F7"/>
                    </a:solidFill>
                  </a:tcPr>
                </a:tc>
                <a:tc>
                  <a:txBody>
                    <a:bodyPr/>
                    <a:lstStyle/>
                    <a:p>
                      <a:r>
                        <a:rPr sz="1300" b="0">
                          <a:solidFill>
                            <a:srgbClr val="333333"/>
                          </a:solidFill>
                          <a:latin typeface="Calibri"/>
                        </a:rPr>
                        <a:t>−1.49, −0.89</a:t>
                      </a:r>
                    </a:p>
                  </a:txBody>
                  <a:tcPr marL="73152" marR="73152" marT="36576" marB="36576" anchor="ctr">
                    <a:solidFill>
                      <a:srgbClr val="F7F7F7"/>
                    </a:solidFill>
                  </a:tcPr>
                </a:tc>
                <a:tc>
                  <a:txBody>
                    <a:bodyPr/>
                    <a:lstStyle/>
                    <a:p>
                      <a:r>
                        <a:rPr sz="1300" b="0">
                          <a:solidFill>
                            <a:srgbClr val="333333"/>
                          </a:solidFill>
                          <a:latin typeface="Calibri"/>
                        </a:rPr>
                        <a:t>0.3 held</a:t>
                      </a:r>
                    </a:p>
                  </a:txBody>
                  <a:tcPr marL="73152" marR="73152" marT="36576" marB="36576" anchor="ctr">
                    <a:solidFill>
                      <a:srgbClr val="F7F7F7"/>
                    </a:solidFill>
                  </a:tcPr>
                </a:tc>
                <a:extLst>
                  <a:ext uri="{0D108BD9-81ED-4DB2-BD59-A6C34878D82A}">
                    <a16:rowId xmlns:a16="http://schemas.microsoft.com/office/drawing/2014/main" val="10001"/>
                  </a:ext>
                </a:extLst>
              </a:tr>
              <a:tr h="420624">
                <a:tc>
                  <a:txBody>
                    <a:bodyPr/>
                    <a:lstStyle/>
                    <a:p>
                      <a:r>
                        <a:rPr sz="1300" b="1">
                          <a:solidFill>
                            <a:srgbClr val="333333"/>
                          </a:solidFill>
                          <a:latin typeface="Calibri"/>
                        </a:rPr>
                        <a:t>Surface roughness</a:t>
                      </a:r>
                    </a:p>
                  </a:txBody>
                  <a:tcPr marL="73152" marR="73152" marT="36576" marB="36576" anchor="ctr">
                    <a:solidFill>
                      <a:srgbClr val="FFFFFF"/>
                    </a:solidFill>
                  </a:tcPr>
                </a:tc>
                <a:tc>
                  <a:txBody>
                    <a:bodyPr/>
                    <a:lstStyle/>
                    <a:p>
                      <a:r>
                        <a:rPr sz="1300" b="0">
                          <a:solidFill>
                            <a:srgbClr val="333333"/>
                          </a:solidFill>
                          <a:latin typeface="Calibri"/>
                        </a:rPr>
                        <a:t>none</a:t>
                      </a:r>
                    </a:p>
                  </a:txBody>
                  <a:tcPr marL="73152" marR="73152" marT="36576" marB="36576" anchor="ctr">
                    <a:solidFill>
                      <a:srgbClr val="FFFFFF"/>
                    </a:solidFill>
                  </a:tcPr>
                </a:tc>
                <a:tc>
                  <a:txBody>
                    <a:bodyPr/>
                    <a:lstStyle/>
                    <a:p>
                      <a:r>
                        <a:rPr sz="1300" b="0">
                          <a:solidFill>
                            <a:srgbClr val="333333"/>
                          </a:solidFill>
                          <a:latin typeface="Calibri"/>
                        </a:rPr>
                        <a:t>refined</a:t>
                      </a:r>
                    </a:p>
                  </a:txBody>
                  <a:tcPr marL="73152" marR="73152" marT="36576" marB="36576" anchor="ctr">
                    <a:solidFill>
                      <a:srgbClr val="FFFFFF"/>
                    </a:solidFill>
                  </a:tcPr>
                </a:tc>
                <a:extLst>
                  <a:ext uri="{0D108BD9-81ED-4DB2-BD59-A6C34878D82A}">
                    <a16:rowId xmlns:a16="http://schemas.microsoft.com/office/drawing/2014/main" val="10002"/>
                  </a:ext>
                </a:extLst>
              </a:tr>
              <a:tr h="420624">
                <a:tc>
                  <a:txBody>
                    <a:bodyPr/>
                    <a:lstStyle/>
                    <a:p>
                      <a:r>
                        <a:rPr sz="1300" b="1">
                          <a:solidFill>
                            <a:srgbClr val="333333"/>
                          </a:solidFill>
                          <a:latin typeface="Calibri"/>
                        </a:rPr>
                        <a:t>Zero shift (°)</a:t>
                      </a:r>
                    </a:p>
                  </a:txBody>
                  <a:tcPr marL="73152" marR="73152" marT="36576" marB="36576" anchor="ctr">
                    <a:solidFill>
                      <a:srgbClr val="F7F7F7"/>
                    </a:solidFill>
                  </a:tcPr>
                </a:tc>
                <a:tc>
                  <a:txBody>
                    <a:bodyPr/>
                    <a:lstStyle/>
                    <a:p>
                      <a:r>
                        <a:rPr sz="1300" b="0">
                          <a:solidFill>
                            <a:srgbClr val="333333"/>
                          </a:solidFill>
                          <a:latin typeface="Calibri"/>
                        </a:rPr>
                        <a:t>0.023</a:t>
                      </a:r>
                    </a:p>
                  </a:txBody>
                  <a:tcPr marL="73152" marR="73152" marT="36576" marB="36576" anchor="ctr">
                    <a:solidFill>
                      <a:srgbClr val="F7F7F7"/>
                    </a:solidFill>
                  </a:tcPr>
                </a:tc>
                <a:tc>
                  <a:txBody>
                    <a:bodyPr/>
                    <a:lstStyle/>
                    <a:p>
                      <a:r>
                        <a:rPr sz="1300" b="0">
                          <a:solidFill>
                            <a:srgbClr val="333333"/>
                          </a:solidFill>
                          <a:latin typeface="Calibri"/>
                        </a:rPr>
                        <a:t>0.015</a:t>
                      </a:r>
                    </a:p>
                  </a:txBody>
                  <a:tcPr marL="73152" marR="73152" marT="36576" marB="36576" anchor="ctr">
                    <a:solidFill>
                      <a:srgbClr val="F7F7F7"/>
                    </a:solidFill>
                  </a:tcPr>
                </a:tc>
                <a:extLst>
                  <a:ext uri="{0D108BD9-81ED-4DB2-BD59-A6C34878D82A}">
                    <a16:rowId xmlns:a16="http://schemas.microsoft.com/office/drawing/2014/main" val="10003"/>
                  </a:ext>
                </a:extLst>
              </a:tr>
              <a:tr h="420624">
                <a:tc>
                  <a:txBody>
                    <a:bodyPr/>
                    <a:lstStyle/>
                    <a:p>
                      <a:r>
                        <a:rPr sz="1300" b="1">
                          <a:solidFill>
                            <a:srgbClr val="333333"/>
                          </a:solidFill>
                          <a:latin typeface="Calibri"/>
                        </a:rPr>
                        <a:t>Axial (S+H)/L</a:t>
                      </a:r>
                    </a:p>
                  </a:txBody>
                  <a:tcPr marL="73152" marR="73152" marT="36576" marB="36576" anchor="ctr">
                    <a:solidFill>
                      <a:srgbClr val="FFFFFF"/>
                    </a:solidFill>
                  </a:tcPr>
                </a:tc>
                <a:tc>
                  <a:txBody>
                    <a:bodyPr/>
                    <a:lstStyle/>
                    <a:p>
                      <a:r>
                        <a:rPr sz="1300" b="0">
                          <a:solidFill>
                            <a:srgbClr val="333333"/>
                          </a:solidFill>
                          <a:latin typeface="Calibri"/>
                        </a:rPr>
                        <a:t>0.046</a:t>
                      </a:r>
                    </a:p>
                  </a:txBody>
                  <a:tcPr marL="73152" marR="73152" marT="36576" marB="36576" anchor="ctr">
                    <a:solidFill>
                      <a:srgbClr val="FFFFFF"/>
                    </a:solidFill>
                  </a:tcPr>
                </a:tc>
                <a:tc>
                  <a:txBody>
                    <a:bodyPr/>
                    <a:lstStyle/>
                    <a:p>
                      <a:r>
                        <a:rPr sz="1300" b="0">
                          <a:solidFill>
                            <a:srgbClr val="333333"/>
                          </a:solidFill>
                          <a:latin typeface="Calibri"/>
                        </a:rPr>
                        <a:t>0.042</a:t>
                      </a:r>
                    </a:p>
                  </a:txBody>
                  <a:tcPr marL="73152" marR="73152" marT="36576" marB="36576" anchor="ctr">
                    <a:solidFill>
                      <a:srgbClr val="FFFFFF"/>
                    </a:solidFill>
                  </a:tcPr>
                </a:tc>
                <a:extLst>
                  <a:ext uri="{0D108BD9-81ED-4DB2-BD59-A6C34878D82A}">
                    <a16:rowId xmlns:a16="http://schemas.microsoft.com/office/drawing/2014/main" val="10004"/>
                  </a:ext>
                </a:extLst>
              </a:tr>
              <a:tr h="420624">
                <a:tc>
                  <a:txBody>
                    <a:bodyPr/>
                    <a:lstStyle/>
                    <a:p>
                      <a:r>
                        <a:rPr sz="1300" b="1">
                          <a:solidFill>
                            <a:srgbClr val="333333"/>
                          </a:solidFill>
                          <a:latin typeface="Calibri"/>
                        </a:rPr>
                        <a:t>GoF</a:t>
                      </a:r>
                    </a:p>
                  </a:txBody>
                  <a:tcPr marL="73152" marR="73152" marT="36576" marB="36576" anchor="ctr">
                    <a:solidFill>
                      <a:srgbClr val="F7F7F7"/>
                    </a:solidFill>
                  </a:tcPr>
                </a:tc>
                <a:tc>
                  <a:txBody>
                    <a:bodyPr/>
                    <a:lstStyle/>
                    <a:p>
                      <a:r>
                        <a:rPr sz="1300" b="0">
                          <a:solidFill>
                            <a:srgbClr val="333333"/>
                          </a:solidFill>
                          <a:latin typeface="Calibri"/>
                        </a:rPr>
                        <a:t>5.36</a:t>
                      </a:r>
                    </a:p>
                  </a:txBody>
                  <a:tcPr marL="73152" marR="73152" marT="36576" marB="36576" anchor="ctr">
                    <a:solidFill>
                      <a:srgbClr val="F7F7F7"/>
                    </a:solidFill>
                  </a:tcPr>
                </a:tc>
                <a:tc>
                  <a:txBody>
                    <a:bodyPr/>
                    <a:lstStyle/>
                    <a:p>
                      <a:r>
                        <a:rPr sz="1300" b="0">
                          <a:solidFill>
                            <a:srgbClr val="333333"/>
                          </a:solidFill>
                          <a:latin typeface="Calibri"/>
                        </a:rPr>
                        <a:t>2.30</a:t>
                      </a:r>
                    </a:p>
                  </a:txBody>
                  <a:tcPr marL="73152" marR="73152" marT="36576" marB="36576" anchor="ctr">
                    <a:solidFill>
                      <a:srgbClr val="F7F7F7"/>
                    </a:solidFill>
                  </a:tcPr>
                </a:tc>
                <a:extLst>
                  <a:ext uri="{0D108BD9-81ED-4DB2-BD59-A6C34878D82A}">
                    <a16:rowId xmlns:a16="http://schemas.microsoft.com/office/drawing/2014/main" val="10005"/>
                  </a:ext>
                </a:extLst>
              </a:tr>
              <a:tr h="420624">
                <a:tc>
                  <a:txBody>
                    <a:bodyPr/>
                    <a:lstStyle/>
                    <a:p>
                      <a:r>
                        <a:rPr sz="1300" b="1">
                          <a:solidFill>
                            <a:srgbClr val="333333"/>
                          </a:solidFill>
                          <a:latin typeface="Calibri"/>
                        </a:rPr>
                        <a:t>Durbin-Watson</a:t>
                      </a:r>
                    </a:p>
                  </a:txBody>
                  <a:tcPr marL="73152" marR="73152" marT="36576" marB="36576" anchor="ctr">
                    <a:solidFill>
                      <a:srgbClr val="FFFFFF"/>
                    </a:solidFill>
                  </a:tcPr>
                </a:tc>
                <a:tc>
                  <a:txBody>
                    <a:bodyPr/>
                    <a:lstStyle/>
                    <a:p>
                      <a:r>
                        <a:rPr sz="1300" b="0">
                          <a:solidFill>
                            <a:srgbClr val="333333"/>
                          </a:solidFill>
                          <a:latin typeface="Calibri"/>
                        </a:rPr>
                        <a:t>0.17</a:t>
                      </a:r>
                    </a:p>
                  </a:txBody>
                  <a:tcPr marL="73152" marR="73152" marT="36576" marB="36576" anchor="ctr">
                    <a:solidFill>
                      <a:srgbClr val="FFFFFF"/>
                    </a:solidFill>
                  </a:tcPr>
                </a:tc>
                <a:tc>
                  <a:txBody>
                    <a:bodyPr/>
                    <a:lstStyle/>
                    <a:p>
                      <a:r>
                        <a:rPr sz="1300" b="0">
                          <a:solidFill>
                            <a:srgbClr val="333333"/>
                          </a:solidFill>
                          <a:latin typeface="Calibri"/>
                        </a:rPr>
                        <a:t>0.60</a:t>
                      </a:r>
                    </a:p>
                  </a:txBody>
                  <a:tcPr marL="73152" marR="73152" marT="36576" marB="36576" anchor="ctr">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7269480" y="4343400"/>
            <a:ext cx="4297680" cy="1280160"/>
          </a:xfrm>
          <a:prstGeom prst="rect">
            <a:avLst/>
          </a:prstGeom>
          <a:noFill/>
        </p:spPr>
        <p:txBody>
          <a:bodyPr wrap="square" lIns="0" tIns="0" rIns="0" bIns="0" anchor="t">
            <a:spAutoFit/>
          </a:bodyPr>
          <a:lstStyle/>
          <a:p>
            <a:pPr algn="l">
              <a:spcAft>
                <a:spcPts val="600"/>
              </a:spcAft>
            </a:pPr>
            <a:r>
              <a:rPr sz="1400" b="0" i="0">
                <a:solidFill>
                  <a:srgbClr val="333333"/>
                </a:solidFill>
                <a:latin typeface="Calibri"/>
              </a:rPr>
              <a:t>The tell: with B held, intensity was 30 % too strong at 21° and 30 to 40 % too weak above 50°, the signature of a rough surface, not of thermal motion.</a:t>
            </a:r>
          </a:p>
        </p:txBody>
      </p:sp>
      <p:sp>
        <p:nvSpPr>
          <p:cNvPr id="7" name="TextBox 6"/>
          <p:cNvSpPr txBox="1"/>
          <p:nvPr/>
        </p:nvSpPr>
        <p:spPr>
          <a:xfrm>
            <a:off x="640080" y="5897880"/>
            <a:ext cx="10881360" cy="640080"/>
          </a:xfrm>
          <a:prstGeom prst="rect">
            <a:avLst/>
          </a:prstGeom>
          <a:noFill/>
        </p:spPr>
        <p:txBody>
          <a:bodyPr wrap="square" lIns="0" tIns="0" rIns="0" bIns="0" anchor="t">
            <a:spAutoFit/>
          </a:bodyPr>
          <a:lstStyle/>
          <a:p>
            <a:pPr algn="l">
              <a:spcAft>
                <a:spcPts val="600"/>
              </a:spcAft>
            </a:pPr>
            <a:r>
              <a:rPr sz="1600" b="1" i="0">
                <a:solidFill>
                  <a:srgbClr val="333333"/>
                </a:solidFill>
                <a:latin typeface="Calibri"/>
              </a:rPr>
              <a:t>A negative B is a symptom. Test what it is absorbing instead of accepting it, or just holding it.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bar"/>
          <p:cNvSpPr/>
          <p:nvPr/>
        </p:nvSpPr>
        <p:spPr>
          <a:xfrm>
            <a:off x="0" y="0"/>
            <a:ext cx="12192000" cy="77724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p:cNvSpPr txBox="1"/>
          <p:nvPr/>
        </p:nvSpPr>
        <p:spPr>
          <a:xfrm>
            <a:off x="411480" y="0"/>
            <a:ext cx="11368735" cy="777240"/>
          </a:xfrm>
          <a:prstGeom prst="rect">
            <a:avLst/>
          </a:prstGeom>
          <a:noFill/>
        </p:spPr>
        <p:txBody>
          <a:bodyPr wrap="square" lIns="0" tIns="0" rIns="0" bIns="0" anchor="ctr">
            <a:spAutoFit/>
          </a:bodyPr>
          <a:lstStyle/>
          <a:p>
            <a:pPr algn="l">
              <a:spcAft>
                <a:spcPts val="600"/>
              </a:spcAft>
            </a:pPr>
            <a:r>
              <a:rPr sz="2400" b="1" i="0">
                <a:solidFill>
                  <a:srgbClr val="FFFFFF"/>
                </a:solidFill>
                <a:latin typeface="Calibri"/>
              </a:rPr>
              <a:t>Al2O3/Si: two codes agree on 3.2 wt% Si; the balance says 10</a:t>
            </a:r>
          </a:p>
        </p:txBody>
      </p:sp>
      <p:sp>
        <p:nvSpPr>
          <p:cNvPr id="4" name="TextBox 3"/>
          <p:cNvSpPr txBox="1"/>
          <p:nvPr/>
        </p:nvSpPr>
        <p:spPr>
          <a:xfrm>
            <a:off x="640080" y="1051560"/>
            <a:ext cx="1783080" cy="822960"/>
          </a:xfrm>
          <a:prstGeom prst="rect">
            <a:avLst/>
          </a:prstGeom>
          <a:noFill/>
        </p:spPr>
        <p:txBody>
          <a:bodyPr wrap="square" lIns="0" tIns="0" rIns="0" bIns="0" anchor="t">
            <a:spAutoFit/>
          </a:bodyPr>
          <a:lstStyle/>
          <a:p>
            <a:pPr algn="l">
              <a:spcAft>
                <a:spcPts val="600"/>
              </a:spcAft>
            </a:pPr>
            <a:r>
              <a:rPr sz="4400" b="1" i="0">
                <a:solidFill>
                  <a:srgbClr val="1A2744"/>
                </a:solidFill>
                <a:latin typeface="Calibri"/>
              </a:rPr>
              <a:t>10.0</a:t>
            </a:r>
          </a:p>
        </p:txBody>
      </p:sp>
      <p:sp>
        <p:nvSpPr>
          <p:cNvPr id="5" name="TextBox 4"/>
          <p:cNvSpPr txBox="1"/>
          <p:nvPr/>
        </p:nvSpPr>
        <p:spPr>
          <a:xfrm>
            <a:off x="640080" y="1874519"/>
            <a:ext cx="1783080" cy="365760"/>
          </a:xfrm>
          <a:prstGeom prst="rect">
            <a:avLst/>
          </a:prstGeom>
          <a:noFill/>
        </p:spPr>
        <p:txBody>
          <a:bodyPr wrap="square" lIns="0" tIns="0" rIns="0" bIns="0" anchor="t">
            <a:spAutoFit/>
          </a:bodyPr>
          <a:lstStyle/>
          <a:p>
            <a:pPr algn="l">
              <a:spcAft>
                <a:spcPts val="600"/>
              </a:spcAft>
            </a:pPr>
            <a:r>
              <a:rPr sz="1300" b="0" i="0">
                <a:solidFill>
                  <a:srgbClr val="777777"/>
                </a:solidFill>
                <a:latin typeface="Calibri"/>
              </a:rPr>
              <a:t>wt% Si weighed</a:t>
            </a:r>
          </a:p>
        </p:txBody>
      </p:sp>
      <p:sp>
        <p:nvSpPr>
          <p:cNvPr id="6" name="TextBox 5"/>
          <p:cNvSpPr txBox="1"/>
          <p:nvPr/>
        </p:nvSpPr>
        <p:spPr>
          <a:xfrm>
            <a:off x="2514600" y="1051560"/>
            <a:ext cx="1783080" cy="822960"/>
          </a:xfrm>
          <a:prstGeom prst="rect">
            <a:avLst/>
          </a:prstGeom>
          <a:noFill/>
        </p:spPr>
        <p:txBody>
          <a:bodyPr wrap="square" lIns="0" tIns="0" rIns="0" bIns="0" anchor="t">
            <a:spAutoFit/>
          </a:bodyPr>
          <a:lstStyle/>
          <a:p>
            <a:pPr algn="l">
              <a:spcAft>
                <a:spcPts val="600"/>
              </a:spcAft>
            </a:pPr>
            <a:r>
              <a:rPr sz="4400" b="1" i="0">
                <a:solidFill>
                  <a:srgbClr val="777777"/>
                </a:solidFill>
                <a:latin typeface="Calibri"/>
              </a:rPr>
              <a:t>3.24</a:t>
            </a:r>
          </a:p>
        </p:txBody>
      </p:sp>
      <p:sp>
        <p:nvSpPr>
          <p:cNvPr id="7" name="TextBox 6"/>
          <p:cNvSpPr txBox="1"/>
          <p:nvPr/>
        </p:nvSpPr>
        <p:spPr>
          <a:xfrm>
            <a:off x="2514600" y="1874519"/>
            <a:ext cx="1783080" cy="365760"/>
          </a:xfrm>
          <a:prstGeom prst="rect">
            <a:avLst/>
          </a:prstGeom>
          <a:noFill/>
        </p:spPr>
        <p:txBody>
          <a:bodyPr wrap="square" lIns="0" tIns="0" rIns="0" bIns="0" anchor="t">
            <a:spAutoFit/>
          </a:bodyPr>
          <a:lstStyle/>
          <a:p>
            <a:pPr algn="l">
              <a:spcAft>
                <a:spcPts val="600"/>
              </a:spcAft>
            </a:pPr>
            <a:r>
              <a:rPr sz="1300" b="0" i="0">
                <a:solidFill>
                  <a:srgbClr val="777777"/>
                </a:solidFill>
                <a:latin typeface="Calibri"/>
              </a:rPr>
              <a:t>wt% Si, GSAS-II</a:t>
            </a:r>
          </a:p>
        </p:txBody>
      </p:sp>
      <p:sp>
        <p:nvSpPr>
          <p:cNvPr id="8" name="TextBox 7"/>
          <p:cNvSpPr txBox="1"/>
          <p:nvPr/>
        </p:nvSpPr>
        <p:spPr>
          <a:xfrm>
            <a:off x="4389120" y="1051560"/>
            <a:ext cx="1783080" cy="822960"/>
          </a:xfrm>
          <a:prstGeom prst="rect">
            <a:avLst/>
          </a:prstGeom>
          <a:noFill/>
        </p:spPr>
        <p:txBody>
          <a:bodyPr wrap="square" lIns="0" tIns="0" rIns="0" bIns="0" anchor="t">
            <a:spAutoFit/>
          </a:bodyPr>
          <a:lstStyle/>
          <a:p>
            <a:pPr algn="l">
              <a:spcAft>
                <a:spcPts val="600"/>
              </a:spcAft>
            </a:pPr>
            <a:r>
              <a:rPr sz="4400" b="1" i="0">
                <a:solidFill>
                  <a:srgbClr val="2A7E7B"/>
                </a:solidFill>
                <a:latin typeface="Calibri"/>
              </a:rPr>
              <a:t>3.16</a:t>
            </a:r>
          </a:p>
        </p:txBody>
      </p:sp>
      <p:sp>
        <p:nvSpPr>
          <p:cNvPr id="9" name="TextBox 8"/>
          <p:cNvSpPr txBox="1"/>
          <p:nvPr/>
        </p:nvSpPr>
        <p:spPr>
          <a:xfrm>
            <a:off x="4389120" y="1874519"/>
            <a:ext cx="1783080" cy="365760"/>
          </a:xfrm>
          <a:prstGeom prst="rect">
            <a:avLst/>
          </a:prstGeom>
          <a:noFill/>
        </p:spPr>
        <p:txBody>
          <a:bodyPr wrap="square" lIns="0" tIns="0" rIns="0" bIns="0" anchor="t">
            <a:spAutoFit/>
          </a:bodyPr>
          <a:lstStyle/>
          <a:p>
            <a:pPr algn="l">
              <a:spcAft>
                <a:spcPts val="600"/>
              </a:spcAft>
            </a:pPr>
            <a:r>
              <a:rPr sz="1300" b="0" i="0">
                <a:solidFill>
                  <a:srgbClr val="777777"/>
                </a:solidFill>
                <a:latin typeface="Calibri"/>
              </a:rPr>
              <a:t>wt% Si, rietx</a:t>
            </a:r>
          </a:p>
        </p:txBody>
      </p:sp>
      <p:graphicFrame>
        <p:nvGraphicFramePr>
          <p:cNvPr id="10" name="Chart 9"/>
          <p:cNvGraphicFramePr>
            <a:graphicFrameLocks noGrp="1"/>
          </p:cNvGraphicFramePr>
          <p:nvPr/>
        </p:nvGraphicFramePr>
        <p:xfrm>
          <a:off x="548640" y="2377440"/>
          <a:ext cx="5852160" cy="3429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p:cNvGraphicFramePr>
            <a:graphicFrameLocks noGrp="1"/>
          </p:cNvGraphicFramePr>
          <p:nvPr/>
        </p:nvGraphicFramePr>
        <p:xfrm>
          <a:off x="6629400" y="1143000"/>
          <a:ext cx="4937760" cy="28346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566928">
                <a:tc>
                  <a:txBody>
                    <a:bodyPr/>
                    <a:lstStyle/>
                    <a:p>
                      <a:r>
                        <a:rPr sz="1300" b="1">
                          <a:solidFill>
                            <a:srgbClr val="FFFFFF"/>
                          </a:solidFill>
                          <a:latin typeface="Calibri"/>
                        </a:rPr>
                        <a:t>Candidate</a:t>
                      </a:r>
                    </a:p>
                  </a:txBody>
                  <a:tcPr marL="73152" marR="73152" marT="36576" marB="36576" anchor="ctr">
                    <a:solidFill>
                      <a:srgbClr val="2A7E7B"/>
                    </a:solidFill>
                  </a:tcPr>
                </a:tc>
                <a:tc>
                  <a:txBody>
                    <a:bodyPr/>
                    <a:lstStyle/>
                    <a:p>
                      <a:r>
                        <a:rPr sz="1300" b="1">
                          <a:solidFill>
                            <a:srgbClr val="FFFFFF"/>
                          </a:solidFill>
                          <a:latin typeface="Calibri"/>
                        </a:rPr>
                        <a:t>Test</a:t>
                      </a:r>
                    </a:p>
                  </a:txBody>
                  <a:tcPr marL="73152" marR="73152" marT="36576" marB="36576" anchor="ctr">
                    <a:solidFill>
                      <a:srgbClr val="2A7E7B"/>
                    </a:solidFill>
                  </a:tcPr>
                </a:tc>
                <a:tc>
                  <a:txBody>
                    <a:bodyPr/>
                    <a:lstStyle/>
                    <a:p>
                      <a:r>
                        <a:rPr sz="1300" b="1">
                          <a:solidFill>
                            <a:srgbClr val="FFFFFF"/>
                          </a:solidFill>
                          <a:latin typeface="Calibri"/>
                        </a:rPr>
                        <a:t>Verdict</a:t>
                      </a:r>
                    </a:p>
                  </a:txBody>
                  <a:tcPr marL="73152" marR="73152" marT="36576" marB="36576" anchor="ctr">
                    <a:solidFill>
                      <a:srgbClr val="2A7E7B"/>
                    </a:solidFill>
                  </a:tcPr>
                </a:tc>
                <a:extLst>
                  <a:ext uri="{0D108BD9-81ED-4DB2-BD59-A6C34878D82A}">
                    <a16:rowId xmlns:a16="http://schemas.microsoft.com/office/drawing/2014/main" val="10000"/>
                  </a:ext>
                </a:extLst>
              </a:tr>
              <a:tr h="566928">
                <a:tc>
                  <a:txBody>
                    <a:bodyPr/>
                    <a:lstStyle/>
                    <a:p>
                      <a:r>
                        <a:rPr sz="1300" b="1">
                          <a:solidFill>
                            <a:srgbClr val="333333"/>
                          </a:solidFill>
                          <a:latin typeface="Calibri"/>
                        </a:rPr>
                        <a:t>Amorphous content</a:t>
                      </a:r>
                    </a:p>
                  </a:txBody>
                  <a:tcPr marL="73152" marR="73152" marT="36576" marB="36576" anchor="ctr">
                    <a:solidFill>
                      <a:srgbClr val="F7F7F7"/>
                    </a:solidFill>
                  </a:tcPr>
                </a:tc>
                <a:tc>
                  <a:txBody>
                    <a:bodyPr/>
                    <a:lstStyle/>
                    <a:p>
                      <a:r>
                        <a:rPr sz="1300" b="0">
                          <a:solidFill>
                            <a:srgbClr val="333333"/>
                          </a:solidFill>
                          <a:latin typeface="Calibri"/>
                        </a:rPr>
                        <a:t>internal-standard arithmetic: −217 % amorphous</a:t>
                      </a:r>
                    </a:p>
                  </a:txBody>
                  <a:tcPr marL="73152" marR="73152" marT="36576" marB="36576" anchor="ctr">
                    <a:solidFill>
                      <a:srgbClr val="F7F7F7"/>
                    </a:solidFill>
                  </a:tcPr>
                </a:tc>
                <a:tc>
                  <a:txBody>
                    <a:bodyPr/>
                    <a:lstStyle/>
                    <a:p>
                      <a:r>
                        <a:rPr sz="1300" b="1">
                          <a:solidFill>
                            <a:srgbClr val="A05F74"/>
                          </a:solidFill>
                          <a:latin typeface="Calibri"/>
                        </a:rPr>
                        <a:t>ruled out</a:t>
                      </a:r>
                    </a:p>
                  </a:txBody>
                  <a:tcPr marL="73152" marR="73152" marT="36576" marB="36576" anchor="ctr">
                    <a:solidFill>
                      <a:srgbClr val="F7F7F7"/>
                    </a:solidFill>
                  </a:tcPr>
                </a:tc>
                <a:extLst>
                  <a:ext uri="{0D108BD9-81ED-4DB2-BD59-A6C34878D82A}">
                    <a16:rowId xmlns:a16="http://schemas.microsoft.com/office/drawing/2014/main" val="10001"/>
                  </a:ext>
                </a:extLst>
              </a:tr>
              <a:tr h="566928">
                <a:tc>
                  <a:txBody>
                    <a:bodyPr/>
                    <a:lstStyle/>
                    <a:p>
                      <a:r>
                        <a:rPr sz="1300" b="1">
                          <a:solidFill>
                            <a:srgbClr val="333333"/>
                          </a:solidFill>
                          <a:latin typeface="Calibri"/>
                        </a:rPr>
                        <a:t>Microabsorption</a:t>
                      </a:r>
                    </a:p>
                  </a:txBody>
                  <a:tcPr marL="73152" marR="73152" marT="36576" marB="36576" anchor="ctr">
                    <a:solidFill>
                      <a:srgbClr val="FFFFFF"/>
                    </a:solidFill>
                  </a:tcPr>
                </a:tc>
                <a:tc>
                  <a:txBody>
                    <a:bodyPr/>
                    <a:lstStyle/>
                    <a:p>
                      <a:r>
                        <a:rPr sz="1300" b="0">
                          <a:solidFill>
                            <a:srgbClr val="333333"/>
                          </a:solidFill>
                          <a:latin typeface="Calibri"/>
                        </a:rPr>
                        <a:t>Brindley, 50 µm Si: 3.2 → 3.8 wt%</a:t>
                      </a:r>
                    </a:p>
                  </a:txBody>
                  <a:tcPr marL="73152" marR="73152" marT="36576" marB="36576" anchor="ctr">
                    <a:solidFill>
                      <a:srgbClr val="FFFFFF"/>
                    </a:solidFill>
                  </a:tcPr>
                </a:tc>
                <a:tc>
                  <a:txBody>
                    <a:bodyPr/>
                    <a:lstStyle/>
                    <a:p>
                      <a:r>
                        <a:rPr sz="1300" b="1">
                          <a:solidFill>
                            <a:srgbClr val="A05F74"/>
                          </a:solidFill>
                          <a:latin typeface="Calibri"/>
                        </a:rPr>
                        <a:t>too small</a:t>
                      </a:r>
                    </a:p>
                  </a:txBody>
                  <a:tcPr marL="73152" marR="73152" marT="36576" marB="36576" anchor="ctr">
                    <a:solidFill>
                      <a:srgbClr val="FFFFFF"/>
                    </a:solidFill>
                  </a:tcPr>
                </a:tc>
                <a:extLst>
                  <a:ext uri="{0D108BD9-81ED-4DB2-BD59-A6C34878D82A}">
                    <a16:rowId xmlns:a16="http://schemas.microsoft.com/office/drawing/2014/main" val="10002"/>
                  </a:ext>
                </a:extLst>
              </a:tr>
              <a:tr h="566928">
                <a:tc>
                  <a:txBody>
                    <a:bodyPr/>
                    <a:lstStyle/>
                    <a:p>
                      <a:r>
                        <a:rPr sz="1300" b="1">
                          <a:solidFill>
                            <a:srgbClr val="333333"/>
                          </a:solidFill>
                          <a:latin typeface="Calibri"/>
                        </a:rPr>
                        <a:t>Biso choice</a:t>
                      </a:r>
                    </a:p>
                  </a:txBody>
                  <a:tcPr marL="73152" marR="73152" marT="36576" marB="36576" anchor="ctr">
                    <a:solidFill>
                      <a:srgbClr val="F7F7F7"/>
                    </a:solidFill>
                  </a:tcPr>
                </a:tc>
                <a:tc>
                  <a:txBody>
                    <a:bodyPr/>
                    <a:lstStyle/>
                    <a:p>
                      <a:r>
                        <a:rPr sz="1300" b="0">
                          <a:solidFill>
                            <a:srgbClr val="333333"/>
                          </a:solidFill>
                          <a:latin typeface="Calibri"/>
                        </a:rPr>
                        <a:t>held at physical values: 3.6 wt%</a:t>
                      </a:r>
                    </a:p>
                  </a:txBody>
                  <a:tcPr marL="73152" marR="73152" marT="36576" marB="36576" anchor="ctr">
                    <a:solidFill>
                      <a:srgbClr val="F7F7F7"/>
                    </a:solidFill>
                  </a:tcPr>
                </a:tc>
                <a:tc>
                  <a:txBody>
                    <a:bodyPr/>
                    <a:lstStyle/>
                    <a:p>
                      <a:r>
                        <a:rPr sz="1300" b="1">
                          <a:solidFill>
                            <a:srgbClr val="1A2744"/>
                          </a:solidFill>
                          <a:latin typeface="Calibri"/>
                        </a:rPr>
                        <a:t>0.5 wt%</a:t>
                      </a:r>
                    </a:p>
                  </a:txBody>
                  <a:tcPr marL="73152" marR="73152" marT="36576" marB="36576" anchor="ctr">
                    <a:solidFill>
                      <a:srgbClr val="F7F7F7"/>
                    </a:solidFill>
                  </a:tcPr>
                </a:tc>
                <a:extLst>
                  <a:ext uri="{0D108BD9-81ED-4DB2-BD59-A6C34878D82A}">
                    <a16:rowId xmlns:a16="http://schemas.microsoft.com/office/drawing/2014/main" val="10003"/>
                  </a:ext>
                </a:extLst>
              </a:tr>
              <a:tr h="566928">
                <a:tc>
                  <a:txBody>
                    <a:bodyPr/>
                    <a:lstStyle/>
                    <a:p>
                      <a:r>
                        <a:rPr sz="1300" b="1">
                          <a:solidFill>
                            <a:srgbClr val="333333"/>
                          </a:solidFill>
                          <a:latin typeface="Calibri"/>
                        </a:rPr>
                        <a:t>Particle statistics</a:t>
                      </a:r>
                    </a:p>
                  </a:txBody>
                  <a:tcPr marL="73152" marR="73152" marT="36576" marB="36576" anchor="ctr">
                    <a:solidFill>
                      <a:srgbClr val="FFFFFF"/>
                    </a:solidFill>
                  </a:tcPr>
                </a:tc>
                <a:tc>
                  <a:txBody>
                    <a:bodyPr/>
                    <a:lstStyle/>
                    <a:p>
                      <a:r>
                        <a:rPr sz="1300" b="0">
                          <a:solidFill>
                            <a:srgbClr val="333333"/>
                          </a:solidFill>
                          <a:latin typeface="Calibri"/>
                        </a:rPr>
                        <a:t>Si 311 at 2.15×, unspun specimen</a:t>
                      </a:r>
                    </a:p>
                  </a:txBody>
                  <a:tcPr marL="73152" marR="73152" marT="36576" marB="36576" anchor="ctr">
                    <a:solidFill>
                      <a:srgbClr val="FFFFFF"/>
                    </a:solidFill>
                  </a:tcPr>
                </a:tc>
                <a:tc>
                  <a:txBody>
                    <a:bodyPr/>
                    <a:lstStyle/>
                    <a:p>
                      <a:r>
                        <a:rPr sz="1300" b="1">
                          <a:solidFill>
                            <a:srgbClr val="1E6542"/>
                          </a:solidFill>
                          <a:latin typeface="Calibri"/>
                        </a:rPr>
                        <a:t>supported</a:t>
                      </a:r>
                    </a:p>
                  </a:txBody>
                  <a:tcPr marL="73152" marR="73152"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6629400" y="4160520"/>
            <a:ext cx="4937760" cy="1554480"/>
          </a:xfrm>
          <a:prstGeom prst="rect">
            <a:avLst/>
          </a:prstGeom>
          <a:noFill/>
        </p:spPr>
        <p:txBody>
          <a:bodyPr wrap="square" lIns="0" tIns="0" rIns="0" bIns="0" anchor="t">
            <a:spAutoFit/>
          </a:bodyPr>
          <a:lstStyle/>
          <a:p>
            <a:pPr algn="l">
              <a:spcAft>
                <a:spcPts val="600"/>
              </a:spcAft>
            </a:pPr>
            <a:r>
              <a:rPr sz="1500" b="1" i="0">
                <a:solidFill>
                  <a:srgbClr val="333333"/>
                </a:solidFill>
                <a:latin typeface="Calibri"/>
              </a:rPr>
              <a:t>Two codes agreeing is precision, not accuracy.</a:t>
            </a:r>
          </a:p>
          <a:p>
            <a:pPr algn="l">
              <a:spcAft>
                <a:spcPts val="600"/>
              </a:spcAft>
            </a:pPr>
            <a:r>
              <a:rPr sz="1400" b="0" i="0">
                <a:solidFill>
                  <a:srgbClr val="333333"/>
                </a:solidFill>
                <a:latin typeface="Calibri"/>
              </a:rPr>
              <a:t>Fix it in the lab: spin the specimen, use fine Si, measure several mounts.</a:t>
            </a:r>
          </a:p>
        </p:txBody>
      </p:sp>
      <p:sp>
        <p:nvSpPr>
          <p:cNvPr id="13" name="TextBox 12"/>
          <p:cNvSpPr txBox="1"/>
          <p:nvPr/>
        </p:nvSpPr>
        <p:spPr>
          <a:xfrm>
            <a:off x="640080" y="5989320"/>
            <a:ext cx="10881360" cy="548640"/>
          </a:xfrm>
          <a:prstGeom prst="rect">
            <a:avLst/>
          </a:prstGeom>
          <a:noFill/>
        </p:spPr>
        <p:txBody>
          <a:bodyPr wrap="square" lIns="0" tIns="0" rIns="0" bIns="0" anchor="t">
            <a:spAutoFit/>
          </a:bodyPr>
          <a:lstStyle/>
          <a:p>
            <a:pPr algn="l">
              <a:spcAft>
                <a:spcPts val="600"/>
              </a:spcAft>
            </a:pPr>
            <a:r>
              <a:rPr sz="1600" b="1" i="0">
                <a:solidFill>
                  <a:srgbClr val="333333"/>
                </a:solidFill>
                <a:latin typeface="Calibri"/>
              </a:rPr>
              <a:t>The tool did not just report 3.2 wt%; it helped rule causes in and out.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bar"/>
          <p:cNvSpPr/>
          <p:nvPr/>
        </p:nvSpPr>
        <p:spPr>
          <a:xfrm>
            <a:off x="0" y="0"/>
            <a:ext cx="12192000" cy="77724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p:cNvSpPr txBox="1"/>
          <p:nvPr/>
        </p:nvSpPr>
        <p:spPr>
          <a:xfrm>
            <a:off x="411480" y="0"/>
            <a:ext cx="11368735" cy="777240"/>
          </a:xfrm>
          <a:prstGeom prst="rect">
            <a:avLst/>
          </a:prstGeom>
          <a:noFill/>
        </p:spPr>
        <p:txBody>
          <a:bodyPr wrap="square" lIns="0" tIns="0" rIns="0" bIns="0" anchor="ctr">
            <a:spAutoFit/>
          </a:bodyPr>
          <a:lstStyle/>
          <a:p>
            <a:pPr algn="l">
              <a:spcAft>
                <a:spcPts val="600"/>
              </a:spcAft>
            </a:pPr>
            <a:r>
              <a:rPr sz="2400" b="1" i="0">
                <a:solidFill>
                  <a:srgbClr val="FFFFFF"/>
                </a:solidFill>
                <a:latin typeface="Calibri"/>
              </a:rPr>
              <a:t>Co3O4: one script refines a 12-scan heating and cooling cycle, and checks itself</a:t>
            </a:r>
          </a:p>
        </p:txBody>
      </p:sp>
      <p:graphicFrame>
        <p:nvGraphicFramePr>
          <p:cNvPr id="4" name="Chart 3"/>
          <p:cNvGraphicFramePr>
            <a:graphicFrameLocks noGrp="1"/>
          </p:cNvGraphicFramePr>
          <p:nvPr/>
        </p:nvGraphicFramePr>
        <p:xfrm>
          <a:off x="548640" y="1051560"/>
          <a:ext cx="667512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7498079" y="1143000"/>
            <a:ext cx="4069080" cy="4206240"/>
          </a:xfrm>
          <a:prstGeom prst="roundRect">
            <a:avLst>
              <a:gd name="adj" fmla="val 2000"/>
            </a:avLst>
          </a:prstGeom>
          <a:solidFill>
            <a:srgbClr val="F7F7F7"/>
          </a:solidFill>
          <a:ln w="25400">
            <a:solidFill>
              <a:srgbClr val="2A7E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26679" y="1325880"/>
            <a:ext cx="3657600" cy="4206240"/>
          </a:xfrm>
          <a:prstGeom prst="rect">
            <a:avLst/>
          </a:prstGeom>
          <a:noFill/>
        </p:spPr>
        <p:txBody>
          <a:bodyPr wrap="square" lIns="0" tIns="0" rIns="0" bIns="0" anchor="t">
            <a:spAutoFit/>
          </a:bodyPr>
          <a:lstStyle/>
          <a:p>
            <a:pPr algn="l">
              <a:spcAft>
                <a:spcPts val="1000"/>
              </a:spcAft>
            </a:pPr>
            <a:r>
              <a:rPr sz="1700" b="1" i="0">
                <a:solidFill>
                  <a:srgbClr val="2A7E7B"/>
                </a:solidFill>
                <a:latin typeface="Calibri"/>
              </a:rPr>
              <a:t>What the script found</a:t>
            </a:r>
          </a:p>
          <a:p>
            <a:pPr algn="l">
              <a:spcAft>
                <a:spcPts val="200"/>
              </a:spcAft>
            </a:pPr>
            <a:r>
              <a:rPr sz="1500" b="1" i="0">
                <a:solidFill>
                  <a:srgbClr val="333333"/>
                </a:solidFill>
                <a:latin typeface="Calibri"/>
              </a:rPr>
              <a:t>“Impurity” peaks are Co Kβ</a:t>
            </a:r>
          </a:p>
          <a:p>
            <a:pPr algn="l">
              <a:spcAft>
                <a:spcPts val="1000"/>
              </a:spcAft>
            </a:pPr>
            <a:r>
              <a:rPr sz="1400" b="0" i="0">
                <a:solidFill>
                  <a:srgbClr val="333333"/>
                </a:solidFill>
                <a:latin typeface="Calibri"/>
              </a:rPr>
              <a:t>no filter in the beam; modelled, not masked (GoF 2.0 → 1.3 at 25 °C)</a:t>
            </a:r>
          </a:p>
          <a:p>
            <a:pPr algn="l">
              <a:spcAft>
                <a:spcPts val="200"/>
              </a:spcAft>
            </a:pPr>
            <a:r>
              <a:rPr sz="1500" b="1" i="0">
                <a:solidFill>
                  <a:srgbClr val="333333"/>
                </a:solidFill>
                <a:latin typeface="Calibri"/>
              </a:rPr>
              <a:t>Order-independent</a:t>
            </a:r>
          </a:p>
          <a:p>
            <a:pPr algn="l">
              <a:spcAft>
                <a:spcPts val="1000"/>
              </a:spcAft>
            </a:pPr>
            <a:r>
              <a:rPr sz="1400" b="0" i="0">
                <a:solidFill>
                  <a:srgbClr val="333333"/>
                </a:solidFill>
                <a:latin typeface="Calibri"/>
              </a:rPr>
              <a:t>chain run forward and backward: no parameter disagrees</a:t>
            </a:r>
          </a:p>
          <a:p>
            <a:pPr algn="l">
              <a:spcAft>
                <a:spcPts val="200"/>
              </a:spcAft>
            </a:pPr>
            <a:r>
              <a:rPr sz="1500" b="1" i="0">
                <a:solidFill>
                  <a:srgbClr val="333333"/>
                </a:solidFill>
                <a:latin typeface="Calibri"/>
              </a:rPr>
              <a:t>Hysteresis</a:t>
            </a:r>
          </a:p>
          <a:p>
            <a:pPr algn="l">
              <a:spcAft>
                <a:spcPts val="1000"/>
              </a:spcAft>
            </a:pPr>
            <a:r>
              <a:rPr sz="1400" b="0" i="0">
                <a:solidFill>
                  <a:srgbClr val="333333"/>
                </a:solidFill>
                <a:latin typeface="Calibri"/>
              </a:rPr>
              <a:t>cooling stalls near 94 % (±3 wt% from the minor phase's B)</a:t>
            </a:r>
          </a:p>
          <a:p>
            <a:pPr algn="l">
              <a:spcAft>
                <a:spcPts val="200"/>
              </a:spcAft>
            </a:pPr>
            <a:r>
              <a:rPr sz="1500" b="1" i="0">
                <a:solidFill>
                  <a:srgbClr val="333333"/>
                </a:solidFill>
                <a:latin typeface="Calibri"/>
              </a:rPr>
              <a:t>Matches the older GSAS figure</a:t>
            </a:r>
          </a:p>
          <a:p>
            <a:pPr algn="l">
              <a:spcAft>
                <a:spcPts val="400"/>
              </a:spcAft>
            </a:pPr>
            <a:r>
              <a:rPr sz="1400" b="0" i="0">
                <a:solidFill>
                  <a:srgbClr val="333333"/>
                </a:solidFill>
                <a:latin typeface="Calibri"/>
              </a:rPr>
              <a:t>point for point, plus a first cooling scan at 880 °C</a:t>
            </a:r>
          </a:p>
        </p:txBody>
      </p:sp>
      <p:sp>
        <p:nvSpPr>
          <p:cNvPr id="7" name="TextBox 6"/>
          <p:cNvSpPr txBox="1"/>
          <p:nvPr/>
        </p:nvSpPr>
        <p:spPr>
          <a:xfrm>
            <a:off x="640080" y="5989320"/>
            <a:ext cx="10881360" cy="548640"/>
          </a:xfrm>
          <a:prstGeom prst="rect">
            <a:avLst/>
          </a:prstGeom>
          <a:noFill/>
        </p:spPr>
        <p:txBody>
          <a:bodyPr wrap="square" lIns="0" tIns="0" rIns="0" bIns="0" anchor="t">
            <a:spAutoFit/>
          </a:bodyPr>
          <a:lstStyle/>
          <a:p>
            <a:pPr algn="l">
              <a:spcAft>
                <a:spcPts val="600"/>
              </a:spcAft>
            </a:pPr>
            <a:r>
              <a:rPr sz="1600" b="1" i="0">
                <a:solidFill>
                  <a:srgbClr val="333333"/>
                </a:solidFill>
                <a:latin typeface="Calibri"/>
              </a:rPr>
              <a:t>A series is where scripting pays off most: same protocol on every scan, plus checks no one does by hand.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bar"/>
          <p:cNvSpPr/>
          <p:nvPr/>
        </p:nvSpPr>
        <p:spPr>
          <a:xfrm>
            <a:off x="0" y="0"/>
            <a:ext cx="12192000" cy="77724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p:cNvSpPr txBox="1"/>
          <p:nvPr/>
        </p:nvSpPr>
        <p:spPr>
          <a:xfrm>
            <a:off x="411480" y="0"/>
            <a:ext cx="11368735" cy="777240"/>
          </a:xfrm>
          <a:prstGeom prst="rect">
            <a:avLst/>
          </a:prstGeom>
          <a:noFill/>
        </p:spPr>
        <p:txBody>
          <a:bodyPr wrap="square" lIns="0" tIns="0" rIns="0" bIns="0" anchor="ctr">
            <a:spAutoFit/>
          </a:bodyPr>
          <a:lstStyle/>
          <a:p>
            <a:pPr algn="l">
              <a:spcAft>
                <a:spcPts val="600"/>
              </a:spcAft>
            </a:pPr>
            <a:r>
              <a:rPr sz="2400" b="1" i="0">
                <a:solidFill>
                  <a:srgbClr val="FFFFFF"/>
                </a:solidFill>
                <a:latin typeface="Calibri"/>
              </a:rPr>
              <a:t>Where the scripted pass caught what my GSAS-II refinements missed</a:t>
            </a:r>
          </a:p>
        </p:txBody>
      </p:sp>
      <p:graphicFrame>
        <p:nvGraphicFramePr>
          <p:cNvPr id="4" name="Table 3"/>
          <p:cNvGraphicFramePr>
            <a:graphicFrameLocks noGrp="1"/>
          </p:cNvGraphicFramePr>
          <p:nvPr/>
        </p:nvGraphicFramePr>
        <p:xfrm>
          <a:off x="640080" y="1188720"/>
          <a:ext cx="10927080" cy="374904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749808">
                <a:tc>
                  <a:txBody>
                    <a:bodyPr/>
                    <a:lstStyle/>
                    <a:p>
                      <a:r>
                        <a:rPr sz="1400" b="1">
                          <a:solidFill>
                            <a:srgbClr val="FFFFFF"/>
                          </a:solidFill>
                          <a:latin typeface="Calibri"/>
                        </a:rPr>
                        <a:t>Dataset</a:t>
                      </a:r>
                    </a:p>
                  </a:txBody>
                  <a:tcPr marL="73152" marR="73152" marT="36576" marB="36576" anchor="ctr">
                    <a:solidFill>
                      <a:srgbClr val="2A7E7B"/>
                    </a:solidFill>
                  </a:tcPr>
                </a:tc>
                <a:tc>
                  <a:txBody>
                    <a:bodyPr/>
                    <a:lstStyle/>
                    <a:p>
                      <a:r>
                        <a:rPr sz="1400" b="1">
                          <a:solidFill>
                            <a:srgbClr val="FFFFFF"/>
                          </a:solidFill>
                          <a:latin typeface="Calibri"/>
                        </a:rPr>
                        <a:t>My GSAS-II refinement</a:t>
                      </a:r>
                    </a:p>
                  </a:txBody>
                  <a:tcPr marL="73152" marR="73152" marT="36576" marB="36576" anchor="ctr">
                    <a:solidFill>
                      <a:srgbClr val="2A7E7B"/>
                    </a:solidFill>
                  </a:tcPr>
                </a:tc>
                <a:tc>
                  <a:txBody>
                    <a:bodyPr/>
                    <a:lstStyle/>
                    <a:p>
                      <a:r>
                        <a:rPr sz="1400" b="1">
                          <a:solidFill>
                            <a:srgbClr val="FFFFFF"/>
                          </a:solidFill>
                          <a:latin typeface="Calibri"/>
                        </a:rPr>
                        <a:t>What the scripted pass found</a:t>
                      </a:r>
                    </a:p>
                  </a:txBody>
                  <a:tcPr marL="73152" marR="73152" marT="36576" marB="36576" anchor="ctr">
                    <a:solidFill>
                      <a:srgbClr val="2A7E7B"/>
                    </a:solidFill>
                  </a:tcPr>
                </a:tc>
                <a:tc>
                  <a:txBody>
                    <a:bodyPr/>
                    <a:lstStyle/>
                    <a:p>
                      <a:r>
                        <a:rPr sz="1400" b="1">
                          <a:solidFill>
                            <a:srgbClr val="FFFFFF"/>
                          </a:solidFill>
                          <a:latin typeface="Calibri"/>
                        </a:rPr>
                        <a:t>How it was caught</a:t>
                      </a:r>
                    </a:p>
                  </a:txBody>
                  <a:tcPr marL="73152" marR="73152" marT="36576" marB="36576" anchor="ctr">
                    <a:solidFill>
                      <a:srgbClr val="2A7E7B"/>
                    </a:solidFill>
                  </a:tcPr>
                </a:tc>
                <a:extLst>
                  <a:ext uri="{0D108BD9-81ED-4DB2-BD59-A6C34878D82A}">
                    <a16:rowId xmlns:a16="http://schemas.microsoft.com/office/drawing/2014/main" val="10000"/>
                  </a:ext>
                </a:extLst>
              </a:tr>
              <a:tr h="749808">
                <a:tc>
                  <a:txBody>
                    <a:bodyPr/>
                    <a:lstStyle/>
                    <a:p>
                      <a:r>
                        <a:rPr sz="1400" b="1">
                          <a:solidFill>
                            <a:srgbClr val="333333"/>
                          </a:solidFill>
                          <a:latin typeface="Calibri"/>
                        </a:rPr>
                        <a:t>LaB6 standard</a:t>
                      </a:r>
                    </a:p>
                  </a:txBody>
                  <a:tcPr marL="73152" marR="73152" marT="36576" marB="36576" anchor="ctr">
                    <a:solidFill>
                      <a:srgbClr val="F7F7F7"/>
                    </a:solidFill>
                  </a:tcPr>
                </a:tc>
                <a:tc>
                  <a:txBody>
                    <a:bodyPr/>
                    <a:lstStyle/>
                    <a:p>
                      <a:r>
                        <a:rPr sz="1400" b="0">
                          <a:solidFill>
                            <a:srgbClr val="333333"/>
                          </a:solidFill>
                          <a:latin typeface="Calibri"/>
                        </a:rPr>
                        <a:t>B &lt; 0 on both sites, GoF 5.4</a:t>
                      </a:r>
                    </a:p>
                  </a:txBody>
                  <a:tcPr marL="73152" marR="73152" marT="36576" marB="36576" anchor="ctr">
                    <a:solidFill>
                      <a:srgbClr val="F7F7F7"/>
                    </a:solidFill>
                  </a:tcPr>
                </a:tc>
                <a:tc>
                  <a:txBody>
                    <a:bodyPr/>
                    <a:lstStyle/>
                    <a:p>
                      <a:r>
                        <a:rPr sz="1400" b="0">
                          <a:solidFill>
                            <a:srgbClr val="333333"/>
                          </a:solidFill>
                          <a:latin typeface="Calibri"/>
                        </a:rPr>
                        <a:t>surface roughness; B = 0.3 Å², GoF 2.3</a:t>
                      </a:r>
                    </a:p>
                  </a:txBody>
                  <a:tcPr marL="73152" marR="73152" marT="36576" marB="36576" anchor="ctr">
                    <a:solidFill>
                      <a:srgbClr val="F7F7F7"/>
                    </a:solidFill>
                  </a:tcPr>
                </a:tc>
                <a:tc>
                  <a:txBody>
                    <a:bodyPr/>
                    <a:lstStyle/>
                    <a:p>
                      <a:r>
                        <a:rPr sz="1400" b="0">
                          <a:solidFill>
                            <a:srgbClr val="333333"/>
                          </a:solidFill>
                          <a:latin typeface="Calibri"/>
                        </a:rPr>
                        <a:t>BISO_NEGATIVE, then an intensity-vs-angle trend and rival tests</a:t>
                      </a:r>
                    </a:p>
                  </a:txBody>
                  <a:tcPr marL="73152" marR="73152" marT="36576" marB="36576" anchor="ctr">
                    <a:solidFill>
                      <a:srgbClr val="F7F7F7"/>
                    </a:solidFill>
                  </a:tcPr>
                </a:tc>
                <a:extLst>
                  <a:ext uri="{0D108BD9-81ED-4DB2-BD59-A6C34878D82A}">
                    <a16:rowId xmlns:a16="http://schemas.microsoft.com/office/drawing/2014/main" val="10001"/>
                  </a:ext>
                </a:extLst>
              </a:tr>
              <a:tr h="749808">
                <a:tc>
                  <a:txBody>
                    <a:bodyPr/>
                    <a:lstStyle/>
                    <a:p>
                      <a:r>
                        <a:rPr sz="1400" b="1">
                          <a:solidFill>
                            <a:srgbClr val="333333"/>
                          </a:solidFill>
                          <a:latin typeface="Calibri"/>
                        </a:rPr>
                        <a:t>Al2O3 / Si / SiO2</a:t>
                      </a:r>
                    </a:p>
                  </a:txBody>
                  <a:tcPr marL="73152" marR="73152" marT="36576" marB="36576" anchor="ctr">
                    <a:solidFill>
                      <a:srgbClr val="FFFFFF"/>
                    </a:solidFill>
                  </a:tcPr>
                </a:tc>
                <a:tc>
                  <a:txBody>
                    <a:bodyPr/>
                    <a:lstStyle/>
                    <a:p>
                      <a:r>
                        <a:rPr sz="1400" b="0">
                          <a:solidFill>
                            <a:srgbClr val="333333"/>
                          </a:solidFill>
                          <a:latin typeface="Calibri"/>
                        </a:rPr>
                        <a:t>quartz modelled (0.4 wt%), Uiso ≈ −1.9 Å², GOF 5.5</a:t>
                      </a:r>
                    </a:p>
                  </a:txBody>
                  <a:tcPr marL="73152" marR="73152" marT="36576" marB="36576" anchor="ctr">
                    <a:solidFill>
                      <a:srgbClr val="FFFFFF"/>
                    </a:solidFill>
                  </a:tcPr>
                </a:tc>
                <a:tc>
                  <a:txBody>
                    <a:bodyPr/>
                    <a:lstStyle/>
                    <a:p>
                      <a:r>
                        <a:rPr sz="1400" b="0">
                          <a:solidFill>
                            <a:srgbClr val="333333"/>
                          </a:solidFill>
                          <a:latin typeface="Calibri"/>
                        </a:rPr>
                        <a:t>a broad fluorite-type phase (a = 5.10 Å), most likely ZrO2 from milling; GoF 3.5 → 1.5</a:t>
                      </a:r>
                    </a:p>
                  </a:txBody>
                  <a:tcPr marL="73152" marR="73152" marT="36576" marB="36576" anchor="ctr">
                    <a:solidFill>
                      <a:srgbClr val="FFFFFF"/>
                    </a:solidFill>
                  </a:tcPr>
                </a:tc>
                <a:tc>
                  <a:txBody>
                    <a:bodyPr/>
                    <a:lstStyle/>
                    <a:p>
                      <a:r>
                        <a:rPr sz="1400" b="0">
                          <a:solidFill>
                            <a:srgbClr val="333333"/>
                          </a:solidFill>
                          <a:latin typeface="Calibri"/>
                        </a:rPr>
                        <a:t>add_impurity_phase (confidence 0.9), unmatched broad peaks</a:t>
                      </a:r>
                    </a:p>
                  </a:txBody>
                  <a:tcPr marL="73152" marR="73152" marT="36576" marB="36576" anchor="ctr">
                    <a:solidFill>
                      <a:srgbClr val="FFFFFF"/>
                    </a:solidFill>
                  </a:tcPr>
                </a:tc>
                <a:extLst>
                  <a:ext uri="{0D108BD9-81ED-4DB2-BD59-A6C34878D82A}">
                    <a16:rowId xmlns:a16="http://schemas.microsoft.com/office/drawing/2014/main" val="10002"/>
                  </a:ext>
                </a:extLst>
              </a:tr>
              <a:tr h="749808">
                <a:tc>
                  <a:txBody>
                    <a:bodyPr/>
                    <a:lstStyle/>
                    <a:p>
                      <a:r>
                        <a:rPr sz="1400" b="1">
                          <a:solidFill>
                            <a:srgbClr val="333333"/>
                          </a:solidFill>
                          <a:latin typeface="Calibri"/>
                        </a:rPr>
                        <a:t>Co3O4, 25 °C</a:t>
                      </a:r>
                    </a:p>
                  </a:txBody>
                  <a:tcPr marL="73152" marR="73152" marT="36576" marB="36576" anchor="ctr">
                    <a:solidFill>
                      <a:srgbClr val="F7F7F7"/>
                    </a:solidFill>
                  </a:tcPr>
                </a:tc>
                <a:tc>
                  <a:txBody>
                    <a:bodyPr/>
                    <a:lstStyle/>
                    <a:p>
                      <a:r>
                        <a:rPr sz="1400" b="0">
                          <a:solidFill>
                            <a:srgbClr val="333333"/>
                          </a:solidFill>
                          <a:latin typeface="Calibri"/>
                        </a:rPr>
                        <a:t>5 regions excluded as an impurity</a:t>
                      </a:r>
                    </a:p>
                  </a:txBody>
                  <a:tcPr marL="73152" marR="73152" marT="36576" marB="36576" anchor="ctr">
                    <a:solidFill>
                      <a:srgbClr val="F7F7F7"/>
                    </a:solidFill>
                  </a:tcPr>
                </a:tc>
                <a:tc>
                  <a:txBody>
                    <a:bodyPr/>
                    <a:lstStyle/>
                    <a:p>
                      <a:r>
                        <a:rPr sz="1400" b="0">
                          <a:solidFill>
                            <a:srgbClr val="333333"/>
                          </a:solidFill>
                          <a:latin typeface="Calibri"/>
                        </a:rPr>
                        <a:t>they are Co Kβ lines; modelled, GoF 1.3</a:t>
                      </a:r>
                    </a:p>
                  </a:txBody>
                  <a:tcPr marL="73152" marR="73152" marT="36576" marB="36576" anchor="ctr">
                    <a:solidFill>
                      <a:srgbClr val="F7F7F7"/>
                    </a:solidFill>
                  </a:tcPr>
                </a:tc>
                <a:tc>
                  <a:txBody>
                    <a:bodyPr/>
                    <a:lstStyle/>
                    <a:p>
                      <a:r>
                        <a:rPr sz="1400" b="0">
                          <a:solidFill>
                            <a:srgbClr val="333333"/>
                          </a:solidFill>
                          <a:latin typeface="Calibri"/>
                        </a:rPr>
                        <a:t>positions of Kβ copies of every reflection</a:t>
                      </a:r>
                    </a:p>
                  </a:txBody>
                  <a:tcPr marL="73152" marR="73152" marT="36576" marB="36576" anchor="ctr">
                    <a:solidFill>
                      <a:srgbClr val="F7F7F7"/>
                    </a:solidFill>
                  </a:tcPr>
                </a:tc>
                <a:extLst>
                  <a:ext uri="{0D108BD9-81ED-4DB2-BD59-A6C34878D82A}">
                    <a16:rowId xmlns:a16="http://schemas.microsoft.com/office/drawing/2014/main" val="10003"/>
                  </a:ext>
                </a:extLst>
              </a:tr>
              <a:tr h="749808">
                <a:tc>
                  <a:txBody>
                    <a:bodyPr/>
                    <a:lstStyle/>
                    <a:p>
                      <a:r>
                        <a:rPr sz="1400" b="1">
                          <a:solidFill>
                            <a:srgbClr val="333333"/>
                          </a:solidFill>
                          <a:latin typeface="Calibri"/>
                        </a:rPr>
                        <a:t>Co3O4, 1000 °C</a:t>
                      </a:r>
                    </a:p>
                  </a:txBody>
                  <a:tcPr marL="73152" marR="73152" marT="36576" marB="36576" anchor="ctr">
                    <a:solidFill>
                      <a:srgbClr val="FFFFFF"/>
                    </a:solidFill>
                  </a:tcPr>
                </a:tc>
                <a:tc>
                  <a:txBody>
                    <a:bodyPr/>
                    <a:lstStyle/>
                    <a:p>
                      <a:r>
                        <a:rPr sz="1400" b="0">
                          <a:solidFill>
                            <a:srgbClr val="333333"/>
                          </a:solidFill>
                          <a:latin typeface="Calibri"/>
                        </a:rPr>
                        <a:t>99 % Co3O4, a = 8.230 Å, GOF 7.9</a:t>
                      </a:r>
                    </a:p>
                  </a:txBody>
                  <a:tcPr marL="73152" marR="73152" marT="36576" marB="36576" anchor="ctr">
                    <a:solidFill>
                      <a:srgbClr val="FFFFFF"/>
                    </a:solidFill>
                  </a:tcPr>
                </a:tc>
                <a:tc>
                  <a:txBody>
                    <a:bodyPr/>
                    <a:lstStyle/>
                    <a:p>
                      <a:r>
                        <a:rPr sz="1400" b="0">
                          <a:solidFill>
                            <a:srgbClr val="333333"/>
                          </a:solidFill>
                          <a:latin typeface="Calibri"/>
                        </a:rPr>
                        <a:t>100 % CoO: the spinel is gone (wrong basin)</a:t>
                      </a:r>
                    </a:p>
                  </a:txBody>
                  <a:tcPr marL="73152" marR="73152" marT="36576" marB="36576" anchor="ctr">
                    <a:solidFill>
                      <a:srgbClr val="FFFFFF"/>
                    </a:solidFill>
                  </a:tcPr>
                </a:tc>
                <a:tc>
                  <a:txBody>
                    <a:bodyPr/>
                    <a:lstStyle/>
                    <a:p>
                      <a:r>
                        <a:rPr sz="1400" b="0">
                          <a:solidFill>
                            <a:srgbClr val="333333"/>
                          </a:solidFill>
                          <a:latin typeface="Calibri"/>
                        </a:rPr>
                        <a:t>warm-started series, then an independent cold refit</a:t>
                      </a:r>
                    </a:p>
                  </a:txBody>
                  <a:tcPr marL="73152" marR="73152"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40080" y="5120640"/>
            <a:ext cx="10881360" cy="1280160"/>
          </a:xfrm>
          <a:prstGeom prst="rect">
            <a:avLst/>
          </a:prstGeom>
          <a:noFill/>
        </p:spPr>
        <p:txBody>
          <a:bodyPr wrap="square" lIns="0" tIns="0" rIns="0" bIns="0" anchor="t">
            <a:spAutoFit/>
          </a:bodyPr>
          <a:lstStyle/>
          <a:p>
            <a:pPr algn="l">
              <a:spcAft>
                <a:spcPts val="800"/>
              </a:spcAft>
            </a:pPr>
            <a:r>
              <a:rPr sz="1500" b="0" i="0">
                <a:solidFill>
                  <a:srgbClr val="777777"/>
                </a:solidFill>
                <a:latin typeface="Calibri"/>
              </a:rPr>
              <a:t>All four were quick teaching refinements, not final analyses: the kind of fit a busy expert accepts.</a:t>
            </a:r>
          </a:p>
          <a:p>
            <a:pPr algn="l">
              <a:spcAft>
                <a:spcPts val="600"/>
              </a:spcAft>
            </a:pPr>
            <a:r>
              <a:rPr sz="1600" b="1" i="0">
                <a:solidFill>
                  <a:srgbClr val="333333"/>
                </a:solidFill>
                <a:latin typeface="Calibri"/>
              </a:rPr>
              <a:t>The script never gets tired or satisfied: every negative B, unmatched peak and wrong basin gets reported.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bar"/>
          <p:cNvSpPr/>
          <p:nvPr/>
        </p:nvSpPr>
        <p:spPr>
          <a:xfrm>
            <a:off x="0" y="0"/>
            <a:ext cx="12192000" cy="77724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p:cNvSpPr txBox="1"/>
          <p:nvPr/>
        </p:nvSpPr>
        <p:spPr>
          <a:xfrm>
            <a:off x="411480" y="0"/>
            <a:ext cx="11368735" cy="777240"/>
          </a:xfrm>
          <a:prstGeom prst="rect">
            <a:avLst/>
          </a:prstGeom>
          <a:noFill/>
        </p:spPr>
        <p:txBody>
          <a:bodyPr wrap="square" lIns="0" tIns="0" rIns="0" bIns="0" anchor="ctr">
            <a:spAutoFit/>
          </a:bodyPr>
          <a:lstStyle/>
          <a:p>
            <a:pPr algn="l">
              <a:spcAft>
                <a:spcPts val="600"/>
              </a:spcAft>
            </a:pPr>
            <a:r>
              <a:rPr sz="2400" b="1" i="0">
                <a:solidFill>
                  <a:srgbClr val="FFFFFF"/>
                </a:solidFill>
                <a:latin typeface="Calibri"/>
              </a:rPr>
              <a:t>It also made mistakes, and only executed numbers caught them</a:t>
            </a:r>
          </a:p>
        </p:txBody>
      </p:sp>
      <p:sp>
        <p:nvSpPr>
          <p:cNvPr id="4" name="Rounded Rectangle 3"/>
          <p:cNvSpPr/>
          <p:nvPr/>
        </p:nvSpPr>
        <p:spPr>
          <a:xfrm>
            <a:off x="640080" y="1143000"/>
            <a:ext cx="5349240" cy="4023360"/>
          </a:xfrm>
          <a:prstGeom prst="roundRect">
            <a:avLst>
              <a:gd name="adj" fmla="val 2000"/>
            </a:avLst>
          </a:prstGeom>
          <a:solidFill>
            <a:srgbClr val="F7F7F7"/>
          </a:solidFill>
          <a:ln w="25400">
            <a:solidFill>
              <a:srgbClr val="A05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344168"/>
            <a:ext cx="4892040" cy="3657600"/>
          </a:xfrm>
          <a:prstGeom prst="rect">
            <a:avLst/>
          </a:prstGeom>
          <a:noFill/>
        </p:spPr>
        <p:txBody>
          <a:bodyPr wrap="square" lIns="0" tIns="0" rIns="0" bIns="0" anchor="t">
            <a:spAutoFit/>
          </a:bodyPr>
          <a:lstStyle/>
          <a:p>
            <a:pPr algn="l">
              <a:spcAft>
                <a:spcPts val="1200"/>
              </a:spcAft>
            </a:pPr>
            <a:r>
              <a:rPr sz="1800" b="1" i="0">
                <a:solidFill>
                  <a:srgbClr val="A05F74"/>
                </a:solidFill>
                <a:latin typeface="Calibri"/>
              </a:rPr>
              <a:t>The AI's draft claims that were wrong</a:t>
            </a:r>
          </a:p>
          <a:p>
            <a:pPr algn="l">
              <a:spcAft>
                <a:spcPts val="100"/>
              </a:spcAft>
            </a:pPr>
            <a:r>
              <a:rPr sz="1600" b="1" i="0">
                <a:solidFill>
                  <a:srgbClr val="333333"/>
                </a:solidFill>
                <a:latin typeface="Calibri"/>
              </a:rPr>
              <a:t>“Axial divergence agrees with GSAS-II within 1 %”</a:t>
            </a:r>
          </a:p>
          <a:p>
            <a:pPr algn="l">
              <a:spcAft>
                <a:spcPts val="1200"/>
              </a:spcAft>
            </a:pPr>
            <a:r>
              <a:rPr sz="1500" b="0" i="0">
                <a:solidFill>
                  <a:srgbClr val="777777"/>
                </a:solidFill>
                <a:latin typeface="Calibri"/>
              </a:rPr>
              <a:t>at the same held cell: 9 % apart</a:t>
            </a:r>
          </a:p>
          <a:p>
            <a:pPr algn="l">
              <a:spcAft>
                <a:spcPts val="100"/>
              </a:spcAft>
            </a:pPr>
            <a:r>
              <a:rPr sz="1600" b="1" i="0">
                <a:solidFill>
                  <a:srgbClr val="333333"/>
                </a:solidFill>
                <a:latin typeface="Calibri"/>
              </a:rPr>
              <a:t>“The minor phase's B moves fractions &lt; 1 wt%”</a:t>
            </a:r>
          </a:p>
          <a:p>
            <a:pPr algn="l">
              <a:spcAft>
                <a:spcPts val="1200"/>
              </a:spcAft>
            </a:pPr>
            <a:r>
              <a:rPr sz="1500" b="0" i="0">
                <a:solidFill>
                  <a:srgbClr val="777777"/>
                </a:solidFill>
                <a:latin typeface="Calibri"/>
              </a:rPr>
              <a:t>measured: 2.5 wt%</a:t>
            </a:r>
          </a:p>
          <a:p>
            <a:pPr algn="l">
              <a:spcAft>
                <a:spcPts val="100"/>
              </a:spcAft>
            </a:pPr>
            <a:r>
              <a:rPr sz="1600" b="1" i="0">
                <a:solidFill>
                  <a:srgbClr val="333333"/>
                </a:solidFill>
                <a:latin typeface="Calibri"/>
              </a:rPr>
              <a:t>“The second mount's Si scatters too”</a:t>
            </a:r>
          </a:p>
          <a:p>
            <a:pPr algn="l">
              <a:spcAft>
                <a:spcPts val="1200"/>
              </a:spcAft>
            </a:pPr>
            <a:r>
              <a:rPr sz="1500" b="0" i="0">
                <a:solidFill>
                  <a:srgbClr val="777777"/>
                </a:solidFill>
                <a:latin typeface="Calibri"/>
              </a:rPr>
              <a:t>it sits within 10 %</a:t>
            </a:r>
          </a:p>
          <a:p>
            <a:pPr algn="l">
              <a:spcAft>
                <a:spcPts val="100"/>
              </a:spcAft>
            </a:pPr>
            <a:r>
              <a:rPr sz="1600" b="1" i="0">
                <a:solidFill>
                  <a:srgbClr val="333333"/>
                </a:solidFill>
                <a:latin typeface="Calibri"/>
              </a:rPr>
              <a:t>“The held cell moves the zero by a few thousandths”</a:t>
            </a:r>
          </a:p>
          <a:p>
            <a:pPr algn="l">
              <a:spcAft>
                <a:spcPts val="1200"/>
              </a:spcAft>
            </a:pPr>
            <a:r>
              <a:rPr sz="1500" b="0" i="0">
                <a:solidFill>
                  <a:srgbClr val="777777"/>
                </a:solidFill>
                <a:latin typeface="Calibri"/>
              </a:rPr>
              <a:t>0.009°, and χ² 30 % lower</a:t>
            </a:r>
          </a:p>
        </p:txBody>
      </p:sp>
      <p:sp>
        <p:nvSpPr>
          <p:cNvPr id="6" name="Rounded Rectangle 5"/>
          <p:cNvSpPr/>
          <p:nvPr/>
        </p:nvSpPr>
        <p:spPr>
          <a:xfrm>
            <a:off x="6199632" y="1143000"/>
            <a:ext cx="5349240" cy="4023360"/>
          </a:xfrm>
          <a:prstGeom prst="roundRect">
            <a:avLst>
              <a:gd name="adj" fmla="val 2000"/>
            </a:avLst>
          </a:prstGeom>
          <a:solidFill>
            <a:srgbClr val="F7F7F7"/>
          </a:solidFill>
          <a:ln w="25400">
            <a:solidFill>
              <a:srgbClr val="1A2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344168"/>
            <a:ext cx="4892040" cy="3657600"/>
          </a:xfrm>
          <a:prstGeom prst="rect">
            <a:avLst/>
          </a:prstGeom>
          <a:noFill/>
        </p:spPr>
        <p:txBody>
          <a:bodyPr wrap="square" lIns="0" tIns="0" rIns="0" bIns="0" anchor="t">
            <a:spAutoFit/>
          </a:bodyPr>
          <a:lstStyle/>
          <a:p>
            <a:pPr algn="l">
              <a:spcAft>
                <a:spcPts val="1200"/>
              </a:spcAft>
            </a:pPr>
            <a:r>
              <a:rPr sz="1800" b="1" i="0">
                <a:solidFill>
                  <a:srgbClr val="1A2744"/>
                </a:solidFill>
                <a:latin typeface="Calibri"/>
              </a:rPr>
              <a:t>Blind spots of the tool</a:t>
            </a:r>
          </a:p>
          <a:p>
            <a:pPr algn="l">
              <a:spcAft>
                <a:spcPts val="100"/>
              </a:spcAft>
            </a:pPr>
            <a:r>
              <a:rPr sz="1600" b="1" i="0">
                <a:solidFill>
                  <a:srgbClr val="333333"/>
                </a:solidFill>
                <a:latin typeface="Calibri"/>
              </a:rPr>
              <a:t>Reused a LaB6 calibration from another diffractometer</a:t>
            </a:r>
          </a:p>
          <a:p>
            <a:pPr algn="l">
              <a:spcAft>
                <a:spcPts val="1200"/>
              </a:spcAft>
            </a:pPr>
            <a:r>
              <a:rPr sz="1500" b="0" i="0">
                <a:solidFill>
                  <a:srgbClr val="777777"/>
                </a:solidFill>
                <a:latin typeface="Calibri"/>
              </a:rPr>
              <a:t>because it was asked to; only FLOOR_HIT hinted</a:t>
            </a:r>
          </a:p>
          <a:p>
            <a:pPr algn="l">
              <a:spcAft>
                <a:spcPts val="100"/>
              </a:spcAft>
            </a:pPr>
            <a:r>
              <a:rPr sz="1600" b="1" i="0">
                <a:solidFill>
                  <a:srgbClr val="333333"/>
                </a:solidFill>
                <a:latin typeface="Calibri"/>
              </a:rPr>
              <a:t>Its own cold-refit check called a real phase change an artefact</a:t>
            </a:r>
          </a:p>
          <a:p>
            <a:pPr algn="l">
              <a:spcAft>
                <a:spcPts val="1200"/>
              </a:spcAft>
            </a:pPr>
            <a:r>
              <a:rPr sz="1500" b="0" i="0">
                <a:solidFill>
                  <a:srgbClr val="777777"/>
                </a:solidFill>
                <a:latin typeface="Calibri"/>
              </a:rPr>
              <a:t>the cold start was outside the fit's reach</a:t>
            </a:r>
          </a:p>
          <a:p>
            <a:pPr algn="l">
              <a:spcAft>
                <a:spcPts val="100"/>
              </a:spcAft>
            </a:pPr>
            <a:r>
              <a:rPr sz="1600" b="1" i="0">
                <a:solidFill>
                  <a:srgbClr val="333333"/>
                </a:solidFill>
                <a:latin typeface="Calibri"/>
              </a:rPr>
              <a:t>Refused an unusual GSAS .prm file</a:t>
            </a:r>
          </a:p>
          <a:p>
            <a:pPr algn="l">
              <a:spcAft>
                <a:spcPts val="1200"/>
              </a:spcAft>
            </a:pPr>
            <a:r>
              <a:rPr sz="1500" b="0" i="0">
                <a:solidFill>
                  <a:srgbClr val="777777"/>
                </a:solidFill>
                <a:latin typeface="Calibri"/>
              </a:rPr>
              <a:t>a human had to decide what to drop</a:t>
            </a:r>
          </a:p>
          <a:p>
            <a:pPr algn="l">
              <a:spcAft>
                <a:spcPts val="100"/>
              </a:spcAft>
            </a:pPr>
            <a:r>
              <a:rPr sz="1600" b="1" i="0">
                <a:solidFill>
                  <a:srgbClr val="333333"/>
                </a:solidFill>
                <a:latin typeface="Calibri"/>
              </a:rPr>
              <a:t>Cannot see the sample prep</a:t>
            </a:r>
          </a:p>
          <a:p>
            <a:pPr algn="l">
              <a:spcAft>
                <a:spcPts val="1200"/>
              </a:spcAft>
            </a:pPr>
            <a:r>
              <a:rPr sz="1500" b="0" i="0">
                <a:solidFill>
                  <a:srgbClr val="777777"/>
                </a:solidFill>
                <a:latin typeface="Calibri"/>
              </a:rPr>
              <a:t>spinning, weighing, milling media are yours</a:t>
            </a:r>
          </a:p>
        </p:txBody>
      </p:sp>
      <p:sp>
        <p:nvSpPr>
          <p:cNvPr id="8" name="TextBox 7"/>
          <p:cNvSpPr txBox="1"/>
          <p:nvPr/>
        </p:nvSpPr>
        <p:spPr>
          <a:xfrm>
            <a:off x="640080" y="5486400"/>
            <a:ext cx="10881360" cy="731520"/>
          </a:xfrm>
          <a:prstGeom prst="rect">
            <a:avLst/>
          </a:prstGeom>
          <a:noFill/>
        </p:spPr>
        <p:txBody>
          <a:bodyPr wrap="square" lIns="0" tIns="0" rIns="0" bIns="0" anchor="t">
            <a:spAutoFit/>
          </a:bodyPr>
          <a:lstStyle/>
          <a:p>
            <a:pPr algn="l">
              <a:spcAft>
                <a:spcPts val="600"/>
              </a:spcAft>
            </a:pPr>
            <a:r>
              <a:rPr sz="1600" b="1" i="0">
                <a:solidFill>
                  <a:srgbClr val="333333"/>
                </a:solidFill>
                <a:latin typeface="Calibri"/>
              </a:rPr>
              <a:t>Treat it like a fast, tireless, overconfident graduate student: check every claim against a number it computed.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bar"/>
          <p:cNvSpPr/>
          <p:nvPr/>
        </p:nvSpPr>
        <p:spPr>
          <a:xfrm>
            <a:off x="0" y="0"/>
            <a:ext cx="12192000" cy="777240"/>
          </a:xfrm>
          <a:prstGeom prst="rect">
            <a:avLst/>
          </a:prstGeom>
          <a:solidFill>
            <a:srgbClr val="2A7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
          <p:cNvSpPr txBox="1"/>
          <p:nvPr/>
        </p:nvSpPr>
        <p:spPr>
          <a:xfrm>
            <a:off x="411480" y="0"/>
            <a:ext cx="11368735" cy="777240"/>
          </a:xfrm>
          <a:prstGeom prst="rect">
            <a:avLst/>
          </a:prstGeom>
          <a:noFill/>
        </p:spPr>
        <p:txBody>
          <a:bodyPr wrap="square" lIns="0" tIns="0" rIns="0" bIns="0" anchor="ctr">
            <a:spAutoFit/>
          </a:bodyPr>
          <a:lstStyle/>
          <a:p>
            <a:pPr algn="l">
              <a:spcAft>
                <a:spcPts val="600"/>
              </a:spcAft>
            </a:pPr>
            <a:r>
              <a:rPr sz="2400" b="1" i="0">
                <a:solidFill>
                  <a:srgbClr val="FFFFFF"/>
                </a:solidFill>
                <a:latin typeface="Calibri"/>
              </a:rPr>
              <a:t>Try it: three notebooks on the workshop data, readable on GitHub as is</a:t>
            </a:r>
          </a:p>
        </p:txBody>
      </p:sp>
      <p:sp>
        <p:nvSpPr>
          <p:cNvPr id="4" name="Rounded Rectangle 3"/>
          <p:cNvSpPr/>
          <p:nvPr/>
        </p:nvSpPr>
        <p:spPr>
          <a:xfrm>
            <a:off x="640080" y="1143000"/>
            <a:ext cx="3474720" cy="1828800"/>
          </a:xfrm>
          <a:prstGeom prst="roundRect">
            <a:avLst>
              <a:gd name="adj" fmla="val 2000"/>
            </a:avLst>
          </a:prstGeom>
          <a:solidFill>
            <a:srgbClr val="F7F7F7"/>
          </a:solidFill>
          <a:ln w="25400">
            <a:solidFill>
              <a:srgbClr val="1A2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298448"/>
            <a:ext cx="3017520" cy="1965960"/>
          </a:xfrm>
          <a:prstGeom prst="rect">
            <a:avLst/>
          </a:prstGeom>
          <a:noFill/>
        </p:spPr>
        <p:txBody>
          <a:bodyPr wrap="square" lIns="0" tIns="0" rIns="0" bIns="0" anchor="t">
            <a:spAutoFit/>
          </a:bodyPr>
          <a:lstStyle/>
          <a:p>
            <a:pPr algn="l">
              <a:spcAft>
                <a:spcPts val="200"/>
              </a:spcAft>
            </a:pPr>
            <a:r>
              <a:rPr sz="3600" b="1" i="0">
                <a:solidFill>
                  <a:srgbClr val="1A2744"/>
                </a:solidFill>
                <a:latin typeface="Calibri"/>
              </a:rPr>
              <a:t>01</a:t>
            </a:r>
          </a:p>
          <a:p>
            <a:pPr algn="l">
              <a:spcAft>
                <a:spcPts val="600"/>
              </a:spcAft>
            </a:pPr>
            <a:r>
              <a:rPr sz="1700" b="1" i="0">
                <a:solidFill>
                  <a:srgbClr val="333333"/>
                </a:solidFill>
                <a:latin typeface="Calibri"/>
              </a:rPr>
              <a:t>LaB6 instrument calibration</a:t>
            </a:r>
          </a:p>
          <a:p>
            <a:pPr algn="l">
              <a:spcAft>
                <a:spcPts val="600"/>
              </a:spcAft>
            </a:pPr>
            <a:r>
              <a:rPr sz="1400" b="0" i="0">
                <a:solidFill>
                  <a:srgbClr val="777777"/>
                </a:solidFill>
                <a:latin typeface="Calibri"/>
              </a:rPr>
              <a:t>lab_calibrate, a negative-B hunt, and a saved instrument profile</a:t>
            </a:r>
          </a:p>
        </p:txBody>
      </p:sp>
      <p:sp>
        <p:nvSpPr>
          <p:cNvPr id="6" name="Rounded Rectangle 5"/>
          <p:cNvSpPr/>
          <p:nvPr/>
        </p:nvSpPr>
        <p:spPr>
          <a:xfrm>
            <a:off x="4343400" y="1143000"/>
            <a:ext cx="3474720" cy="1828800"/>
          </a:xfrm>
          <a:prstGeom prst="roundRect">
            <a:avLst>
              <a:gd name="adj" fmla="val 2000"/>
            </a:avLst>
          </a:prstGeom>
          <a:solidFill>
            <a:srgbClr val="F7F7F7"/>
          </a:solidFill>
          <a:ln w="25400">
            <a:solidFill>
              <a:srgbClr val="1E6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298448"/>
            <a:ext cx="3017520" cy="1965960"/>
          </a:xfrm>
          <a:prstGeom prst="rect">
            <a:avLst/>
          </a:prstGeom>
          <a:noFill/>
        </p:spPr>
        <p:txBody>
          <a:bodyPr wrap="square" lIns="0" tIns="0" rIns="0" bIns="0" anchor="t">
            <a:spAutoFit/>
          </a:bodyPr>
          <a:lstStyle/>
          <a:p>
            <a:pPr algn="l">
              <a:spcAft>
                <a:spcPts val="200"/>
              </a:spcAft>
            </a:pPr>
            <a:r>
              <a:rPr sz="3600" b="1" i="0">
                <a:solidFill>
                  <a:srgbClr val="1E6542"/>
                </a:solidFill>
                <a:latin typeface="Calibri"/>
              </a:rPr>
              <a:t>02</a:t>
            </a:r>
          </a:p>
          <a:p>
            <a:pPr algn="l">
              <a:spcAft>
                <a:spcPts val="600"/>
              </a:spcAft>
            </a:pPr>
            <a:r>
              <a:rPr sz="1700" b="1" i="0">
                <a:solidFill>
                  <a:srgbClr val="333333"/>
                </a:solidFill>
                <a:latin typeface="Calibri"/>
              </a:rPr>
              <a:t>Al2O3/Si phase analysis</a:t>
            </a:r>
          </a:p>
          <a:p>
            <a:pPr algn="l">
              <a:spcAft>
                <a:spcPts val="600"/>
              </a:spcAft>
            </a:pPr>
            <a:r>
              <a:rPr sz="1400" b="0" i="0">
                <a:solidFill>
                  <a:srgbClr val="777777"/>
                </a:solidFill>
                <a:latin typeface="Calibri"/>
              </a:rPr>
              <a:t>QPA, GSAS-II side by side, and why 10 wt% reads as 3</a:t>
            </a:r>
          </a:p>
        </p:txBody>
      </p:sp>
      <p:sp>
        <p:nvSpPr>
          <p:cNvPr id="8" name="Rounded Rectangle 7"/>
          <p:cNvSpPr/>
          <p:nvPr/>
        </p:nvSpPr>
        <p:spPr>
          <a:xfrm>
            <a:off x="8046719" y="1143000"/>
            <a:ext cx="3474720" cy="1828800"/>
          </a:xfrm>
          <a:prstGeom prst="roundRect">
            <a:avLst>
              <a:gd name="adj" fmla="val 2000"/>
            </a:avLst>
          </a:prstGeom>
          <a:solidFill>
            <a:srgbClr val="F7F7F7"/>
          </a:solidFill>
          <a:ln w="25400">
            <a:solidFill>
              <a:srgbClr val="A05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75319" y="1298448"/>
            <a:ext cx="3017520" cy="1965960"/>
          </a:xfrm>
          <a:prstGeom prst="rect">
            <a:avLst/>
          </a:prstGeom>
          <a:noFill/>
        </p:spPr>
        <p:txBody>
          <a:bodyPr wrap="square" lIns="0" tIns="0" rIns="0" bIns="0" anchor="t">
            <a:spAutoFit/>
          </a:bodyPr>
          <a:lstStyle/>
          <a:p>
            <a:pPr algn="l">
              <a:spcAft>
                <a:spcPts val="200"/>
              </a:spcAft>
            </a:pPr>
            <a:r>
              <a:rPr sz="3600" b="1" i="0">
                <a:solidFill>
                  <a:srgbClr val="A05F74"/>
                </a:solidFill>
                <a:latin typeface="Calibri"/>
              </a:rPr>
              <a:t>03</a:t>
            </a:r>
          </a:p>
          <a:p>
            <a:pPr algn="l">
              <a:spcAft>
                <a:spcPts val="600"/>
              </a:spcAft>
            </a:pPr>
            <a:r>
              <a:rPr sz="1700" b="1" i="0">
                <a:solidFill>
                  <a:srgbClr val="333333"/>
                </a:solidFill>
                <a:latin typeface="Calibri"/>
              </a:rPr>
              <a:t>Co3O4 temperature series</a:t>
            </a:r>
          </a:p>
          <a:p>
            <a:pPr algn="l">
              <a:spcAft>
                <a:spcPts val="600"/>
              </a:spcAft>
            </a:pPr>
            <a:r>
              <a:rPr sz="1400" b="0" i="0">
                <a:solidFill>
                  <a:srgbClr val="777777"/>
                </a:solidFill>
                <a:latin typeface="Calibri"/>
              </a:rPr>
              <a:t>12 scans refined both directions; phase fractions and cells vs T</a:t>
            </a:r>
          </a:p>
        </p:txBody>
      </p:sp>
      <p:sp>
        <p:nvSpPr>
          <p:cNvPr id="10" name="Rounded Rectangle 9"/>
          <p:cNvSpPr/>
          <p:nvPr/>
        </p:nvSpPr>
        <p:spPr>
          <a:xfrm>
            <a:off x="640080" y="3246120"/>
            <a:ext cx="10927080" cy="1463040"/>
          </a:xfrm>
          <a:prstGeom prst="roundRect">
            <a:avLst>
              <a:gd name="adj" fmla="val 2000"/>
            </a:avLst>
          </a:prstGeom>
          <a:solidFill>
            <a:srgbClr val="F7F7F7"/>
          </a:solidFill>
          <a:ln w="254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3401568"/>
            <a:ext cx="10515600" cy="1280160"/>
          </a:xfrm>
          <a:prstGeom prst="rect">
            <a:avLst/>
          </a:prstGeom>
          <a:noFill/>
        </p:spPr>
        <p:txBody>
          <a:bodyPr wrap="square" lIns="0" tIns="0" rIns="0" bIns="0" anchor="t">
            <a:spAutoFit/>
          </a:bodyPr>
          <a:lstStyle/>
          <a:p>
            <a:pPr algn="l">
              <a:spcAft>
                <a:spcPts val="800"/>
              </a:spcAft>
            </a:pPr>
            <a:r>
              <a:rPr sz="1700" b="1" i="0">
                <a:solidFill>
                  <a:srgbClr val="2A7E7B"/>
                </a:solidFill>
                <a:latin typeface="Calibri"/>
                <a:hlinkClick r:id="rId3"/>
              </a:rPr>
              <a:t>github.com/sp8rks/Ceramic_Rietveld_Refinement  →  scripted refinement (rietx)</a:t>
            </a:r>
          </a:p>
          <a:p>
            <a:pPr algn="l">
              <a:spcAft>
                <a:spcPts val="600"/>
              </a:spcAft>
            </a:pPr>
            <a:r>
              <a:rPr sz="1500" b="1" i="0">
                <a:solidFill>
                  <a:srgbClr val="333333"/>
                </a:solidFill>
                <a:latin typeface="Calibri"/>
              </a:rPr>
              <a:t>Run:  </a:t>
            </a:r>
            <a:r>
              <a:rPr sz="1400" b="0" i="0">
                <a:solidFill>
                  <a:srgbClr val="333333"/>
                </a:solidFill>
                <a:latin typeface="Courier New"/>
              </a:rPr>
              <a:t>pip install -r requirements.txt</a:t>
            </a:r>
            <a:r>
              <a:rPr sz="1500" b="0" i="0">
                <a:solidFill>
                  <a:srgbClr val="333333"/>
                </a:solidFill>
                <a:latin typeface="Calibri"/>
              </a:rPr>
              <a:t>   then open the notebooks in JupyterLab (Python ≥ 3.11)</a:t>
            </a:r>
          </a:p>
          <a:p>
            <a:pPr algn="l">
              <a:spcAft>
                <a:spcPts val="600"/>
              </a:spcAft>
            </a:pPr>
            <a:r>
              <a:rPr sz="1500" b="1" i="0">
                <a:solidFill>
                  <a:srgbClr val="333333"/>
                </a:solidFill>
                <a:latin typeface="Calibri"/>
              </a:rPr>
              <a:t>With Claude Code:  </a:t>
            </a:r>
            <a:r>
              <a:rPr sz="1500" b="0" i="1">
                <a:solidFill>
                  <a:srgbClr val="333333"/>
                </a:solidFill>
                <a:latin typeface="Calibri"/>
              </a:rPr>
              <a:t>“Refine LaB6_Jan2018.raw with rietx and explain the diagnostics”</a:t>
            </a:r>
            <a:r>
              <a:rPr sz="1500" b="0" i="0">
                <a:solidFill>
                  <a:srgbClr val="777777"/>
                </a:solidFill>
                <a:latin typeface="Calibri"/>
              </a:rPr>
              <a:t>  (the rietx skill ships in the repo)</a:t>
            </a:r>
          </a:p>
        </p:txBody>
      </p:sp>
      <p:sp>
        <p:nvSpPr>
          <p:cNvPr id="12" name="TextBox 11"/>
          <p:cNvSpPr txBox="1"/>
          <p:nvPr/>
        </p:nvSpPr>
        <p:spPr>
          <a:xfrm>
            <a:off x="640080" y="5029200"/>
            <a:ext cx="10881360" cy="822960"/>
          </a:xfrm>
          <a:prstGeom prst="rect">
            <a:avLst/>
          </a:prstGeom>
          <a:noFill/>
        </p:spPr>
        <p:txBody>
          <a:bodyPr wrap="square" lIns="0" tIns="0" rIns="0" bIns="0" anchor="t">
            <a:spAutoFit/>
          </a:bodyPr>
          <a:lstStyle/>
          <a:p>
            <a:pPr algn="l">
              <a:spcAft>
                <a:spcPts val="600"/>
              </a:spcAft>
            </a:pPr>
            <a:r>
              <a:rPr sz="1600" b="1" i="0">
                <a:solidFill>
                  <a:srgbClr val="333333"/>
                </a:solidFill>
                <a:latin typeface="Calibri"/>
              </a:rPr>
              <a:t>Suggested exercise: refine one dataset in GSAS-II yourself, then run the notebook and compare numbers and diagnostics. Where you disagree, find out who is right.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4690</Words>
  <Application>Microsoft Office PowerPoint</Application>
  <PresentationFormat>Widescreen</PresentationFormat>
  <Paragraphs>448</Paragraphs>
  <Slides>51</Slides>
  <Notes>51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taylor sparks</cp:lastModifiedBy>
  <cp:revision>3</cp:revision>
  <dcterms:created xsi:type="dcterms:W3CDTF">2026-08-31T15:24:18Z</dcterms:created>
  <dcterms:modified xsi:type="dcterms:W3CDTF">2026-10-23T21:23:07Z</dcterms:modified>
</cp:coreProperties>
</file>